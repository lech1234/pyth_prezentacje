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1" r:id="rId2"/>
    <p:sldMasterId id="2147483677" r:id="rId3"/>
  </p:sldMasterIdLst>
  <p:notesMasterIdLst>
    <p:notesMasterId r:id="rId42"/>
  </p:notesMasterIdLst>
  <p:sldIdLst>
    <p:sldId id="260" r:id="rId4"/>
    <p:sldId id="257" r:id="rId5"/>
    <p:sldId id="261" r:id="rId6"/>
    <p:sldId id="262" r:id="rId7"/>
    <p:sldId id="263" r:id="rId8"/>
    <p:sldId id="268" r:id="rId9"/>
    <p:sldId id="266" r:id="rId10"/>
    <p:sldId id="342" r:id="rId11"/>
    <p:sldId id="294" r:id="rId12"/>
    <p:sldId id="265" r:id="rId13"/>
    <p:sldId id="350" r:id="rId14"/>
    <p:sldId id="296" r:id="rId15"/>
    <p:sldId id="297" r:id="rId16"/>
    <p:sldId id="302" r:id="rId17"/>
    <p:sldId id="300" r:id="rId18"/>
    <p:sldId id="303" r:id="rId19"/>
    <p:sldId id="304" r:id="rId20"/>
    <p:sldId id="301" r:id="rId21"/>
    <p:sldId id="305" r:id="rId22"/>
    <p:sldId id="307" r:id="rId23"/>
    <p:sldId id="310" r:id="rId24"/>
    <p:sldId id="309" r:id="rId25"/>
    <p:sldId id="308" r:id="rId26"/>
    <p:sldId id="313" r:id="rId27"/>
    <p:sldId id="334" r:id="rId28"/>
    <p:sldId id="289" r:id="rId29"/>
    <p:sldId id="288" r:id="rId30"/>
    <p:sldId id="349" r:id="rId31"/>
    <p:sldId id="328" r:id="rId32"/>
    <p:sldId id="339" r:id="rId33"/>
    <p:sldId id="351" r:id="rId34"/>
    <p:sldId id="352" r:id="rId35"/>
    <p:sldId id="353" r:id="rId36"/>
    <p:sldId id="354" r:id="rId37"/>
    <p:sldId id="355" r:id="rId38"/>
    <p:sldId id="356" r:id="rId39"/>
    <p:sldId id="357" r:id="rId40"/>
    <p:sldId id="259" r:id="rId41"/>
  </p:sldIdLst>
  <p:sldSz cx="9144000" cy="5143500" type="screen16x9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80">
          <p15:clr>
            <a:srgbClr val="A4A3A4"/>
          </p15:clr>
        </p15:guide>
        <p15:guide id="2" orient="horz" pos="531">
          <p15:clr>
            <a:srgbClr val="A4A3A4"/>
          </p15:clr>
        </p15:guide>
        <p15:guide id="3" orient="horz" pos="1552">
          <p15:clr>
            <a:srgbClr val="A4A3A4"/>
          </p15:clr>
        </p15:guide>
        <p15:guide id="4" pos="113">
          <p15:clr>
            <a:srgbClr val="A4A3A4"/>
          </p15:clr>
        </p15:guide>
        <p15:guide id="5" pos="5647">
          <p15:clr>
            <a:srgbClr val="A4A3A4"/>
          </p15:clr>
        </p15:guide>
        <p15:guide id="6" pos="680">
          <p15:clr>
            <a:srgbClr val="A4A3A4"/>
          </p15:clr>
        </p15:guide>
        <p15:guide id="7" pos="5080">
          <p15:clr>
            <a:srgbClr val="A4A3A4"/>
          </p15:clr>
        </p15:guide>
        <p15:guide id="8" pos="5012">
          <p15:clr>
            <a:srgbClr val="A4A3A4"/>
          </p15:clr>
        </p15:guide>
        <p15:guide id="9" pos="1292">
          <p15:clr>
            <a:srgbClr val="A4A3A4"/>
          </p15:clr>
        </p15:guide>
        <p15:guide id="10" pos="4468">
          <p15:clr>
            <a:srgbClr val="A4A3A4"/>
          </p15:clr>
        </p15:guide>
        <p15:guide id="11" pos="1360">
          <p15:clr>
            <a:srgbClr val="A4A3A4"/>
          </p15:clr>
        </p15:guide>
        <p15:guide id="12" pos="4400">
          <p15:clr>
            <a:srgbClr val="A4A3A4"/>
          </p15:clr>
        </p15:guide>
        <p15:guide id="13" pos="1905">
          <p15:clr>
            <a:srgbClr val="A4A3A4"/>
          </p15:clr>
        </p15:guide>
        <p15:guide id="14" pos="1973">
          <p15:clr>
            <a:srgbClr val="A4A3A4"/>
          </p15:clr>
        </p15:guide>
        <p15:guide id="15" pos="2540">
          <p15:clr>
            <a:srgbClr val="A4A3A4"/>
          </p15:clr>
        </p15:guide>
        <p15:guide id="16" pos="2608">
          <p15:clr>
            <a:srgbClr val="A4A3A4"/>
          </p15:clr>
        </p15:guide>
        <p15:guide id="17" pos="3855">
          <p15:clr>
            <a:srgbClr val="A4A3A4"/>
          </p15:clr>
        </p15:guide>
        <p15:guide id="18" pos="3787">
          <p15:clr>
            <a:srgbClr val="A4A3A4"/>
          </p15:clr>
        </p15:guide>
        <p15:guide id="19" pos="748">
          <p15:clr>
            <a:srgbClr val="A4A3A4"/>
          </p15:clr>
        </p15:guide>
        <p15:guide id="20" pos="3152">
          <p15:clr>
            <a:srgbClr val="A4A3A4"/>
          </p15:clr>
        </p15:guide>
        <p15:guide id="21" pos="32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 pośredni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Styl pośredni 2 — Ak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Styl pośredni 2 — Ak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Styl pośredni 3 — Ak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CAF9ED-07DC-4A11-8D7F-57B35C25682E}" styleName="Styl pośredni 1 — Ak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0A1B5D5-9B99-4C35-A422-299274C87663}" styleName="Styl pośredni 1 — Ak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93D81CF-94F2-401A-BA57-92F5A7B2D0C5}" styleName="Styl pośredni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65" autoAdjust="0"/>
    <p:restoredTop sz="92462" autoAdjust="0"/>
  </p:normalViewPr>
  <p:slideViewPr>
    <p:cSldViewPr>
      <p:cViewPr varScale="1">
        <p:scale>
          <a:sx n="107" d="100"/>
          <a:sy n="107" d="100"/>
        </p:scale>
        <p:origin x="101" y="230"/>
      </p:cViewPr>
      <p:guideLst>
        <p:guide orient="horz" pos="1280"/>
        <p:guide orient="horz" pos="531"/>
        <p:guide orient="horz" pos="1552"/>
        <p:guide pos="113"/>
        <p:guide pos="5647"/>
        <p:guide pos="680"/>
        <p:guide pos="5080"/>
        <p:guide pos="5012"/>
        <p:guide pos="1292"/>
        <p:guide pos="4468"/>
        <p:guide pos="1360"/>
        <p:guide pos="4400"/>
        <p:guide pos="1905"/>
        <p:guide pos="1973"/>
        <p:guide pos="2540"/>
        <p:guide pos="2608"/>
        <p:guide pos="3855"/>
        <p:guide pos="3787"/>
        <p:guide pos="748"/>
        <p:guide pos="3152"/>
        <p:guide pos="32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 dirty="0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F87BA0-FE7B-4EB5-97FD-4605FB28412B}" type="datetimeFigureOut">
              <a:rPr lang="pl-PL" smtClean="0"/>
              <a:t>22.11.2022</a:t>
            </a:fld>
            <a:endParaRPr lang="pl-PL" dirty="0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 dirty="0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 dirty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87B5-E450-45CC-936E-44A7DE10F887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259327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???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5987B5-E450-45CC-936E-44A7DE10F887}" type="slidenum">
              <a:rPr lang="pl-PL" smtClean="0"/>
              <a:t>2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918636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5987B5-E450-45CC-936E-44A7DE10F887}" type="slidenum">
              <a:rPr lang="pl-PL" smtClean="0"/>
              <a:t>6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87538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5987B5-E450-45CC-936E-44A7DE10F887}" type="slidenum">
              <a:rPr lang="pl-PL" smtClean="0"/>
              <a:t>9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7184739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5987B5-E450-45CC-936E-44A7DE10F887}" type="slidenum">
              <a:rPr lang="pl-PL" smtClean="0"/>
              <a:t>10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36663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5987B5-E450-45CC-936E-44A7DE10F887}" type="slidenum">
              <a:rPr lang="pl-PL" smtClean="0"/>
              <a:t>11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640925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5987B5-E450-45CC-936E-44A7DE10F887}" type="slidenum">
              <a:rPr lang="pl-PL" smtClean="0"/>
              <a:t>29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09914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5987B5-E450-45CC-936E-44A7DE10F887}" type="slidenum">
              <a:rPr lang="pl-PL" smtClean="0"/>
              <a:t>36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870910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5987B5-E450-45CC-936E-44A7DE10F887}" type="slidenum">
              <a:rPr lang="pl-PL" smtClean="0"/>
              <a:t>37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040156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TYTUŁOWY JASNY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‹#›</a:t>
            </a:fld>
            <a:endParaRPr lang="pl-PL"/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496A7DFC-291D-2643-BBDD-9B2DDB5FE0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388" y="4732371"/>
            <a:ext cx="900112" cy="213283"/>
          </a:xfrm>
          <a:prstGeom prst="rect">
            <a:avLst/>
          </a:prstGeom>
        </p:spPr>
      </p:pic>
      <p:sp>
        <p:nvSpPr>
          <p:cNvPr id="10" name="Tytuł 1">
            <a:extLst>
              <a:ext uri="{FF2B5EF4-FFF2-40B4-BE49-F238E27FC236}">
                <a16:creationId xmlns:a16="http://schemas.microsoft.com/office/drawing/2014/main" id="{D28C6158-7158-2442-9C4B-B20196F7F8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990" y="195487"/>
            <a:ext cx="7780560" cy="576064"/>
          </a:xfrm>
        </p:spPr>
        <p:txBody>
          <a:bodyPr lIns="0" tIns="0" rIns="0" bIns="0" anchor="t">
            <a:normAutofit/>
          </a:bodyPr>
          <a:lstStyle>
            <a:lvl1pPr algn="l">
              <a:defRPr sz="3200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8" name="Symbol zastępczy daty 3">
            <a:extLst>
              <a:ext uri="{FF2B5EF4-FFF2-40B4-BE49-F238E27FC236}">
                <a16:creationId xmlns:a16="http://schemas.microsoft.com/office/drawing/2014/main" id="{9E09C6C4-A30B-004A-9C78-51B2D1F493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64499" y="4746178"/>
            <a:ext cx="890253" cy="1658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pl-PL"/>
              <a:t>Lifelong learning</a:t>
            </a:r>
          </a:p>
        </p:txBody>
      </p:sp>
      <p:sp>
        <p:nvSpPr>
          <p:cNvPr id="11" name="Symbol zastępczy stopki 5">
            <a:extLst>
              <a:ext uri="{FF2B5EF4-FFF2-40B4-BE49-F238E27FC236}">
                <a16:creationId xmlns:a16="http://schemas.microsoft.com/office/drawing/2014/main" id="{14BE5660-9549-2243-8639-FE03C242B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9000" y="4767994"/>
            <a:ext cx="1836936" cy="144016"/>
          </a:xfrm>
          <a:prstGeom prst="rect">
            <a:avLst/>
          </a:prstGeom>
        </p:spPr>
        <p:txBody>
          <a:bodyPr/>
          <a:lstStyle/>
          <a:p>
            <a:r>
              <a:rPr lang="pl-PL" dirty="0"/>
              <a:t>www.altkomakademia.pl</a:t>
            </a:r>
          </a:p>
        </p:txBody>
      </p:sp>
    </p:spTree>
    <p:extLst>
      <p:ext uri="{BB962C8B-B14F-4D97-AF65-F5344CB8AC3E}">
        <p14:creationId xmlns:p14="http://schemas.microsoft.com/office/powerpoint/2010/main" val="1980828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+ podtytuł + tekst + punktow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75990" y="195487"/>
            <a:ext cx="7780560" cy="576064"/>
          </a:xfrm>
        </p:spPr>
        <p:txBody>
          <a:bodyPr lIns="0" tIns="0" rIns="0" bIns="0" anchor="t">
            <a:normAutofit/>
          </a:bodyPr>
          <a:lstStyle>
            <a:lvl1pPr algn="l">
              <a:defRPr sz="24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2159000" y="2032000"/>
            <a:ext cx="4826000" cy="345442"/>
          </a:xfrm>
        </p:spPr>
        <p:txBody>
          <a:bodyPr/>
          <a:lstStyle>
            <a:lvl1pPr marL="0" indent="0" algn="l">
              <a:buNone/>
              <a:defRPr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8" name="Symbol zastępczy zawartości 2"/>
          <p:cNvSpPr>
            <a:spLocks noGrp="1"/>
          </p:cNvSpPr>
          <p:nvPr>
            <p:ph sz="half" idx="13"/>
          </p:nvPr>
        </p:nvSpPr>
        <p:spPr>
          <a:xfrm>
            <a:off x="2159000" y="842963"/>
            <a:ext cx="5791200" cy="1080715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9" name="Symbol zastępczy zawartości 2"/>
          <p:cNvSpPr>
            <a:spLocks noGrp="1"/>
          </p:cNvSpPr>
          <p:nvPr>
            <p:ph sz="half" idx="14" hasCustomPrompt="1"/>
          </p:nvPr>
        </p:nvSpPr>
        <p:spPr>
          <a:xfrm>
            <a:off x="4140201" y="2463800"/>
            <a:ext cx="1871662" cy="211941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11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1"/>
            <a:r>
              <a:rPr lang="pl-PL" dirty="0"/>
              <a:t>Drugi poziom</a:t>
            </a:r>
          </a:p>
        </p:txBody>
      </p:sp>
      <p:sp>
        <p:nvSpPr>
          <p:cNvPr id="10" name="Symbol zastępczy zawartości 2"/>
          <p:cNvSpPr>
            <a:spLocks noGrp="1"/>
          </p:cNvSpPr>
          <p:nvPr>
            <p:ph sz="half" idx="15" hasCustomPrompt="1"/>
          </p:nvPr>
        </p:nvSpPr>
        <p:spPr>
          <a:xfrm>
            <a:off x="2159000" y="2463800"/>
            <a:ext cx="1871662" cy="211941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11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1"/>
            <a:r>
              <a:rPr lang="pl-PL" dirty="0"/>
              <a:t>Drugi poziom</a:t>
            </a:r>
          </a:p>
        </p:txBody>
      </p:sp>
      <p:sp>
        <p:nvSpPr>
          <p:cNvPr id="11" name="Symbol zastępczy zawartości 2"/>
          <p:cNvSpPr>
            <a:spLocks noGrp="1"/>
          </p:cNvSpPr>
          <p:nvPr>
            <p:ph sz="half" idx="16" hasCustomPrompt="1"/>
          </p:nvPr>
        </p:nvSpPr>
        <p:spPr>
          <a:xfrm>
            <a:off x="6119813" y="2463800"/>
            <a:ext cx="1836737" cy="211941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11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1"/>
            <a:r>
              <a:rPr lang="pl-PL" dirty="0"/>
              <a:t>Drugi poziom</a:t>
            </a: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CA1837BF-EB13-3E4B-AF03-BE81D6B914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388" y="4734010"/>
            <a:ext cx="900112" cy="211644"/>
          </a:xfrm>
          <a:prstGeom prst="rect">
            <a:avLst/>
          </a:prstGeom>
        </p:spPr>
      </p:pic>
      <p:sp>
        <p:nvSpPr>
          <p:cNvPr id="13" name="Symbol zastępczy daty 3">
            <a:extLst>
              <a:ext uri="{FF2B5EF4-FFF2-40B4-BE49-F238E27FC236}">
                <a16:creationId xmlns:a16="http://schemas.microsoft.com/office/drawing/2014/main" id="{D4D86DE0-55E8-854E-BB5B-2A15AC051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64499" y="4746178"/>
            <a:ext cx="890253" cy="1658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pl-PL"/>
              <a:t>Lifelong learning</a:t>
            </a:r>
          </a:p>
        </p:txBody>
      </p:sp>
      <p:sp>
        <p:nvSpPr>
          <p:cNvPr id="14" name="Symbol zastępczy stopki 5">
            <a:extLst>
              <a:ext uri="{FF2B5EF4-FFF2-40B4-BE49-F238E27FC236}">
                <a16:creationId xmlns:a16="http://schemas.microsoft.com/office/drawing/2014/main" id="{E7C2ADC7-39F4-1041-BF66-37987AE7F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9000" y="4767994"/>
            <a:ext cx="1836936" cy="144016"/>
          </a:xfrm>
          <a:prstGeom prst="rect">
            <a:avLst/>
          </a:prstGeom>
        </p:spPr>
        <p:txBody>
          <a:bodyPr/>
          <a:lstStyle/>
          <a:p>
            <a:r>
              <a:rPr lang="pl-PL" dirty="0"/>
              <a:t>www.altkomakademia.pl</a:t>
            </a:r>
          </a:p>
        </p:txBody>
      </p:sp>
    </p:spTree>
    <p:extLst>
      <p:ext uri="{BB962C8B-B14F-4D97-AF65-F5344CB8AC3E}">
        <p14:creationId xmlns:p14="http://schemas.microsoft.com/office/powerpoint/2010/main" val="634715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+ tekst + punktow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388" y="195486"/>
            <a:ext cx="8389056" cy="576064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2155825" y="842963"/>
            <a:ext cx="5797550" cy="1080715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7" name="Symbol zastępczy zawartości 2"/>
          <p:cNvSpPr>
            <a:spLocks noGrp="1"/>
          </p:cNvSpPr>
          <p:nvPr>
            <p:ph idx="13" hasCustomPrompt="1"/>
          </p:nvPr>
        </p:nvSpPr>
        <p:spPr>
          <a:xfrm>
            <a:off x="2155825" y="2032000"/>
            <a:ext cx="2844800" cy="1800200"/>
          </a:xfrm>
        </p:spPr>
        <p:txBody>
          <a:bodyPr/>
          <a:lstStyle/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8" name="Symbol zastępczy zawartości 2"/>
          <p:cNvSpPr>
            <a:spLocks noGrp="1"/>
          </p:cNvSpPr>
          <p:nvPr>
            <p:ph idx="14" hasCustomPrompt="1"/>
          </p:nvPr>
        </p:nvSpPr>
        <p:spPr>
          <a:xfrm>
            <a:off x="5111750" y="2032000"/>
            <a:ext cx="2844800" cy="1800200"/>
          </a:xfrm>
        </p:spPr>
        <p:txBody>
          <a:bodyPr/>
          <a:lstStyle/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58A9B599-77AB-B943-A2B6-EC2F7CDAE9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388" y="4734010"/>
            <a:ext cx="900112" cy="211644"/>
          </a:xfrm>
          <a:prstGeom prst="rect">
            <a:avLst/>
          </a:prstGeom>
        </p:spPr>
      </p:pic>
      <p:sp>
        <p:nvSpPr>
          <p:cNvPr id="10" name="Symbol zastępczy daty 3">
            <a:extLst>
              <a:ext uri="{FF2B5EF4-FFF2-40B4-BE49-F238E27FC236}">
                <a16:creationId xmlns:a16="http://schemas.microsoft.com/office/drawing/2014/main" id="{A1BA1DCE-19D4-0044-B7EB-49960B460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64499" y="4746178"/>
            <a:ext cx="890253" cy="1658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pl-PL"/>
              <a:t>Lifelong learning</a:t>
            </a:r>
          </a:p>
        </p:txBody>
      </p:sp>
      <p:sp>
        <p:nvSpPr>
          <p:cNvPr id="11" name="Symbol zastępczy stopki 5">
            <a:extLst>
              <a:ext uri="{FF2B5EF4-FFF2-40B4-BE49-F238E27FC236}">
                <a16:creationId xmlns:a16="http://schemas.microsoft.com/office/drawing/2014/main" id="{B8F0DED3-80E7-274B-BD46-52D7F3FC7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9000" y="4767994"/>
            <a:ext cx="1836936" cy="144016"/>
          </a:xfrm>
          <a:prstGeom prst="rect">
            <a:avLst/>
          </a:prstGeom>
        </p:spPr>
        <p:txBody>
          <a:bodyPr/>
          <a:lstStyle/>
          <a:p>
            <a:r>
              <a:rPr lang="pl-PL" dirty="0"/>
              <a:t>www.altkomakademia.pl</a:t>
            </a:r>
          </a:p>
        </p:txBody>
      </p:sp>
    </p:spTree>
    <p:extLst>
      <p:ext uri="{BB962C8B-B14F-4D97-AF65-F5344CB8AC3E}">
        <p14:creationId xmlns:p14="http://schemas.microsoft.com/office/powerpoint/2010/main" val="1527406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2155825" y="842963"/>
            <a:ext cx="5797550" cy="3709007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‹#›</a:t>
            </a:fld>
            <a:endParaRPr lang="pl-PL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6F3DEAE5-6084-884F-BDC0-EC69008F19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388" y="4734010"/>
            <a:ext cx="900112" cy="211644"/>
          </a:xfrm>
          <a:prstGeom prst="rect">
            <a:avLst/>
          </a:prstGeom>
        </p:spPr>
      </p:pic>
      <p:sp>
        <p:nvSpPr>
          <p:cNvPr id="8" name="Symbol zastępczy daty 3">
            <a:extLst>
              <a:ext uri="{FF2B5EF4-FFF2-40B4-BE49-F238E27FC236}">
                <a16:creationId xmlns:a16="http://schemas.microsoft.com/office/drawing/2014/main" id="{73600E5E-2DDB-3A47-B6D2-2403430639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64499" y="4746178"/>
            <a:ext cx="890253" cy="1658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pl-PL"/>
              <a:t>Lifelong learning</a:t>
            </a:r>
          </a:p>
        </p:txBody>
      </p:sp>
      <p:sp>
        <p:nvSpPr>
          <p:cNvPr id="9" name="Symbol zastępczy stopki 5">
            <a:extLst>
              <a:ext uri="{FF2B5EF4-FFF2-40B4-BE49-F238E27FC236}">
                <a16:creationId xmlns:a16="http://schemas.microsoft.com/office/drawing/2014/main" id="{48FA0FDD-4F90-4447-83A2-B6CB62FC3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9000" y="4767994"/>
            <a:ext cx="1836936" cy="144016"/>
          </a:xfrm>
          <a:prstGeom prst="rect">
            <a:avLst/>
          </a:prstGeom>
        </p:spPr>
        <p:txBody>
          <a:bodyPr/>
          <a:lstStyle/>
          <a:p>
            <a:r>
              <a:rPr lang="pl-PL" dirty="0"/>
              <a:t>www.altkomakademia.pl</a:t>
            </a:r>
          </a:p>
        </p:txBody>
      </p:sp>
    </p:spTree>
    <p:extLst>
      <p:ext uri="{BB962C8B-B14F-4D97-AF65-F5344CB8AC3E}">
        <p14:creationId xmlns:p14="http://schemas.microsoft.com/office/powerpoint/2010/main" val="216378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główek + tekst + obra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388" y="195486"/>
            <a:ext cx="7777162" cy="504056"/>
          </a:xfrm>
        </p:spPr>
        <p:txBody>
          <a:bodyPr anchor="t" anchorCtr="0"/>
          <a:lstStyle>
            <a:lvl1pPr algn="l">
              <a:defRPr sz="2400" b="1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2158999" y="2035175"/>
            <a:ext cx="6805613" cy="262480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2159000" y="842963"/>
            <a:ext cx="5797550" cy="75667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‹#›</a:t>
            </a:fld>
            <a:endParaRPr lang="pl-PL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0C13472F-CB38-9D47-9BEE-D3B47D6D72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388" y="4734010"/>
            <a:ext cx="900112" cy="211644"/>
          </a:xfrm>
          <a:prstGeom prst="rect">
            <a:avLst/>
          </a:prstGeom>
        </p:spPr>
      </p:pic>
      <p:sp>
        <p:nvSpPr>
          <p:cNvPr id="9" name="Symbol zastępczy daty 3">
            <a:extLst>
              <a:ext uri="{FF2B5EF4-FFF2-40B4-BE49-F238E27FC236}">
                <a16:creationId xmlns:a16="http://schemas.microsoft.com/office/drawing/2014/main" id="{75BA6CF3-99D9-7F4B-AB44-C65133CC4D1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064499" y="4746178"/>
            <a:ext cx="890253" cy="1658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pl-PL"/>
              <a:t>Lifelong learning</a:t>
            </a:r>
          </a:p>
        </p:txBody>
      </p:sp>
      <p:sp>
        <p:nvSpPr>
          <p:cNvPr id="10" name="Symbol zastępczy stopki 5">
            <a:extLst>
              <a:ext uri="{FF2B5EF4-FFF2-40B4-BE49-F238E27FC236}">
                <a16:creationId xmlns:a16="http://schemas.microsoft.com/office/drawing/2014/main" id="{A7470DC7-9199-2645-A01F-6011E980C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9000" y="4767994"/>
            <a:ext cx="1836936" cy="144016"/>
          </a:xfrm>
          <a:prstGeom prst="rect">
            <a:avLst/>
          </a:prstGeom>
        </p:spPr>
        <p:txBody>
          <a:bodyPr/>
          <a:lstStyle/>
          <a:p>
            <a:r>
              <a:rPr lang="pl-PL" dirty="0"/>
              <a:t>www.altkomakademia.pl</a:t>
            </a:r>
          </a:p>
        </p:txBody>
      </p:sp>
    </p:spTree>
    <p:extLst>
      <p:ext uri="{BB962C8B-B14F-4D97-AF65-F5344CB8AC3E}">
        <p14:creationId xmlns:p14="http://schemas.microsoft.com/office/powerpoint/2010/main" val="994715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agłówek + wykres/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‹#›</a:t>
            </a:fld>
            <a:endParaRPr lang="pl-PL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885C5904-E192-1D4F-9B3C-F06BBDAAF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388" y="4734010"/>
            <a:ext cx="900112" cy="211644"/>
          </a:xfrm>
          <a:prstGeom prst="rect">
            <a:avLst/>
          </a:prstGeom>
        </p:spPr>
      </p:pic>
      <p:sp>
        <p:nvSpPr>
          <p:cNvPr id="7" name="Symbol zastępczy daty 3">
            <a:extLst>
              <a:ext uri="{FF2B5EF4-FFF2-40B4-BE49-F238E27FC236}">
                <a16:creationId xmlns:a16="http://schemas.microsoft.com/office/drawing/2014/main" id="{162979E2-FBF4-D64A-A323-B9CA52D49E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64499" y="4746178"/>
            <a:ext cx="890253" cy="1658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pl-PL"/>
              <a:t>Lifelong learning</a:t>
            </a:r>
          </a:p>
        </p:txBody>
      </p:sp>
      <p:sp>
        <p:nvSpPr>
          <p:cNvPr id="8" name="Symbol zastępczy stopki 5">
            <a:extLst>
              <a:ext uri="{FF2B5EF4-FFF2-40B4-BE49-F238E27FC236}">
                <a16:creationId xmlns:a16="http://schemas.microsoft.com/office/drawing/2014/main" id="{3041E97A-4879-0E47-906F-F52A5237A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9000" y="4767994"/>
            <a:ext cx="1836936" cy="144016"/>
          </a:xfrm>
          <a:prstGeom prst="rect">
            <a:avLst/>
          </a:prstGeom>
        </p:spPr>
        <p:txBody>
          <a:bodyPr/>
          <a:lstStyle/>
          <a:p>
            <a:r>
              <a:rPr lang="pl-PL" dirty="0"/>
              <a:t>www.altkomakademia.pl</a:t>
            </a:r>
          </a:p>
        </p:txBody>
      </p:sp>
    </p:spTree>
    <p:extLst>
      <p:ext uri="{BB962C8B-B14F-4D97-AF65-F5344CB8AC3E}">
        <p14:creationId xmlns:p14="http://schemas.microsoft.com/office/powerpoint/2010/main" val="2907382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ykres/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‹#›</a:t>
            </a:fld>
            <a:endParaRPr lang="pl-PL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E0305E5E-DAC6-8F43-93FB-1992C934E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388" y="4734010"/>
            <a:ext cx="900112" cy="211644"/>
          </a:xfrm>
          <a:prstGeom prst="rect">
            <a:avLst/>
          </a:prstGeom>
        </p:spPr>
      </p:pic>
      <p:sp>
        <p:nvSpPr>
          <p:cNvPr id="6" name="Symbol zastępczy daty 3">
            <a:extLst>
              <a:ext uri="{FF2B5EF4-FFF2-40B4-BE49-F238E27FC236}">
                <a16:creationId xmlns:a16="http://schemas.microsoft.com/office/drawing/2014/main" id="{D86CC4F5-8FB7-BB42-AD11-EDE20B4A7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64499" y="4746178"/>
            <a:ext cx="890253" cy="1658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pl-PL"/>
              <a:t>Lifelong learning</a:t>
            </a:r>
          </a:p>
        </p:txBody>
      </p:sp>
      <p:sp>
        <p:nvSpPr>
          <p:cNvPr id="7" name="Symbol zastępczy stopki 5">
            <a:extLst>
              <a:ext uri="{FF2B5EF4-FFF2-40B4-BE49-F238E27FC236}">
                <a16:creationId xmlns:a16="http://schemas.microsoft.com/office/drawing/2014/main" id="{F3F6C680-784C-A14E-8802-2A594BE08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9000" y="4767994"/>
            <a:ext cx="1836936" cy="144016"/>
          </a:xfrm>
          <a:prstGeom prst="rect">
            <a:avLst/>
          </a:prstGeom>
        </p:spPr>
        <p:txBody>
          <a:bodyPr/>
          <a:lstStyle/>
          <a:p>
            <a:r>
              <a:rPr lang="pl-PL" dirty="0"/>
              <a:t>www.altkomakademia.pl</a:t>
            </a:r>
          </a:p>
        </p:txBody>
      </p:sp>
    </p:spTree>
    <p:extLst>
      <p:ext uri="{BB962C8B-B14F-4D97-AF65-F5344CB8AC3E}">
        <p14:creationId xmlns:p14="http://schemas.microsoft.com/office/powerpoint/2010/main" val="3713836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+ tekst + obraz z bok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388" y="195486"/>
            <a:ext cx="2844800" cy="828092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388" y="2032000"/>
            <a:ext cx="2844800" cy="2591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‹#›</a:t>
            </a:fld>
            <a:endParaRPr lang="pl-PL"/>
          </a:p>
        </p:txBody>
      </p:sp>
      <p:sp>
        <p:nvSpPr>
          <p:cNvPr id="9" name="Symbol zastępczy obrazu 2"/>
          <p:cNvSpPr>
            <a:spLocks noGrp="1"/>
          </p:cNvSpPr>
          <p:nvPr>
            <p:ph type="pic" idx="1"/>
          </p:nvPr>
        </p:nvSpPr>
        <p:spPr>
          <a:xfrm>
            <a:off x="3132138" y="195487"/>
            <a:ext cx="5832474" cy="44644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B464BEB8-B8CB-6D44-AECB-4A9B7825FC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388" y="4734010"/>
            <a:ext cx="900112" cy="211644"/>
          </a:xfrm>
          <a:prstGeom prst="rect">
            <a:avLst/>
          </a:prstGeom>
        </p:spPr>
      </p:pic>
      <p:sp>
        <p:nvSpPr>
          <p:cNvPr id="10" name="Symbol zastępczy daty 3">
            <a:extLst>
              <a:ext uri="{FF2B5EF4-FFF2-40B4-BE49-F238E27FC236}">
                <a16:creationId xmlns:a16="http://schemas.microsoft.com/office/drawing/2014/main" id="{D48BB502-A79D-D349-8139-CA257F342DB2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064499" y="4746178"/>
            <a:ext cx="890253" cy="1658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pl-PL"/>
              <a:t>Lifelong learning</a:t>
            </a:r>
          </a:p>
        </p:txBody>
      </p:sp>
      <p:sp>
        <p:nvSpPr>
          <p:cNvPr id="11" name="Symbol zastępczy stopki 5">
            <a:extLst>
              <a:ext uri="{FF2B5EF4-FFF2-40B4-BE49-F238E27FC236}">
                <a16:creationId xmlns:a16="http://schemas.microsoft.com/office/drawing/2014/main" id="{B0867BA4-D43D-E644-A79B-DF8BB201E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9000" y="4767994"/>
            <a:ext cx="1836936" cy="144016"/>
          </a:xfrm>
          <a:prstGeom prst="rect">
            <a:avLst/>
          </a:prstGeom>
        </p:spPr>
        <p:txBody>
          <a:bodyPr/>
          <a:lstStyle/>
          <a:p>
            <a:r>
              <a:rPr lang="pl-PL" dirty="0"/>
              <a:t>www.altkomakademia.pl</a:t>
            </a:r>
          </a:p>
        </p:txBody>
      </p:sp>
    </p:spTree>
    <p:extLst>
      <p:ext uri="{BB962C8B-B14F-4D97-AF65-F5344CB8AC3E}">
        <p14:creationId xmlns:p14="http://schemas.microsoft.com/office/powerpoint/2010/main" val="2000190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+ tekst + wykres/tabela z bok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388" y="195486"/>
            <a:ext cx="2844800" cy="828092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388" y="2032000"/>
            <a:ext cx="2844800" cy="2591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 dirty="0"/>
              <a:t>strona </a:t>
            </a:r>
            <a:fld id="{D1E8C041-FAE8-4DC5-8211-C4895345858D}" type="slidenum">
              <a:rPr lang="pl-PL" smtClean="0"/>
              <a:pPr/>
              <a:t>‹#›</a:t>
            </a:fld>
            <a:endParaRPr lang="pl-PL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F8957F6E-CE26-3C4A-8B10-F5D89337CE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388" y="4734010"/>
            <a:ext cx="900112" cy="211644"/>
          </a:xfrm>
          <a:prstGeom prst="rect">
            <a:avLst/>
          </a:prstGeom>
        </p:spPr>
      </p:pic>
      <p:sp>
        <p:nvSpPr>
          <p:cNvPr id="9" name="Symbol zastępczy daty 3">
            <a:extLst>
              <a:ext uri="{FF2B5EF4-FFF2-40B4-BE49-F238E27FC236}">
                <a16:creationId xmlns:a16="http://schemas.microsoft.com/office/drawing/2014/main" id="{A3A76C4D-8AB7-E142-AE28-43AF666BAD0E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064499" y="4746178"/>
            <a:ext cx="890253" cy="1658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pl-PL" dirty="0"/>
              <a:t>Lifelong learning</a:t>
            </a:r>
          </a:p>
        </p:txBody>
      </p:sp>
      <p:sp>
        <p:nvSpPr>
          <p:cNvPr id="10" name="Symbol zastępczy stopki 5">
            <a:extLst>
              <a:ext uri="{FF2B5EF4-FFF2-40B4-BE49-F238E27FC236}">
                <a16:creationId xmlns:a16="http://schemas.microsoft.com/office/drawing/2014/main" id="{17F4BBAB-BD91-1142-9DFE-E7C8499E4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9000" y="4767994"/>
            <a:ext cx="1836936" cy="144016"/>
          </a:xfrm>
          <a:prstGeom prst="rect">
            <a:avLst/>
          </a:prstGeom>
        </p:spPr>
        <p:txBody>
          <a:bodyPr/>
          <a:lstStyle/>
          <a:p>
            <a:r>
              <a:rPr lang="pl-PL" dirty="0"/>
              <a:t>www.altkomakademia.pl</a:t>
            </a:r>
          </a:p>
        </p:txBody>
      </p:sp>
    </p:spTree>
    <p:extLst>
      <p:ext uri="{BB962C8B-B14F-4D97-AF65-F5344CB8AC3E}">
        <p14:creationId xmlns:p14="http://schemas.microsoft.com/office/powerpoint/2010/main" val="3268247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KOŃCOWY JASNY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l-PL" dirty="0"/>
              <a:t>strona </a:t>
            </a:r>
            <a:fld id="{D1E8C041-FAE8-4DC5-8211-C4895345858D}" type="slidenum">
              <a:rPr lang="pl-PL" smtClean="0"/>
              <a:pPr/>
              <a:t>‹#›</a:t>
            </a:fld>
            <a:endParaRPr lang="pl-PL" dirty="0"/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496A7DFC-291D-2643-BBDD-9B2DDB5FE0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388" y="4732371"/>
            <a:ext cx="900112" cy="213283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52597300-8D9F-744F-A509-E2CB5C41A90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388" y="4734010"/>
            <a:ext cx="900112" cy="211644"/>
          </a:xfrm>
          <a:prstGeom prst="rect">
            <a:avLst/>
          </a:prstGeom>
        </p:spPr>
      </p:pic>
      <p:sp>
        <p:nvSpPr>
          <p:cNvPr id="13" name="Symbol zastępczy zawartości 2">
            <a:extLst>
              <a:ext uri="{FF2B5EF4-FFF2-40B4-BE49-F238E27FC236}">
                <a16:creationId xmlns:a16="http://schemas.microsoft.com/office/drawing/2014/main" id="{02244B69-1237-254A-A472-1F9159518C2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724128" y="959698"/>
            <a:ext cx="2412268" cy="53975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  <a:latin typeface="+mj-lt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14" name="Tytuł 1">
            <a:extLst>
              <a:ext uri="{FF2B5EF4-FFF2-40B4-BE49-F238E27FC236}">
                <a16:creationId xmlns:a16="http://schemas.microsoft.com/office/drawing/2014/main" id="{2C6B06AC-1695-6843-AA9E-1AB365278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128" y="1851670"/>
            <a:ext cx="2412268" cy="1584176"/>
          </a:xfrm>
        </p:spPr>
        <p:txBody>
          <a:bodyPr anchor="b" anchorCtr="0">
            <a:normAutofit/>
          </a:bodyPr>
          <a:lstStyle>
            <a:lvl1pPr>
              <a:defRPr sz="11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10" name="Symbol zastępczy daty 3">
            <a:extLst>
              <a:ext uri="{FF2B5EF4-FFF2-40B4-BE49-F238E27FC236}">
                <a16:creationId xmlns:a16="http://schemas.microsoft.com/office/drawing/2014/main" id="{BEE4A129-4AD7-AF41-8B28-A5FA3A8C0C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64499" y="4746178"/>
            <a:ext cx="890253" cy="1658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pl-PL" dirty="0"/>
              <a:t>Lifelong learning</a:t>
            </a:r>
          </a:p>
        </p:txBody>
      </p:sp>
      <p:sp>
        <p:nvSpPr>
          <p:cNvPr id="11" name="Symbol zastępczy stopki 5">
            <a:extLst>
              <a:ext uri="{FF2B5EF4-FFF2-40B4-BE49-F238E27FC236}">
                <a16:creationId xmlns:a16="http://schemas.microsoft.com/office/drawing/2014/main" id="{203768BE-DCB2-DB46-AF5E-570BAB7C6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9000" y="4767994"/>
            <a:ext cx="1836936" cy="144016"/>
          </a:xfrm>
          <a:prstGeom prst="rect">
            <a:avLst/>
          </a:prstGeom>
        </p:spPr>
        <p:txBody>
          <a:bodyPr/>
          <a:lstStyle/>
          <a:p>
            <a:r>
              <a:rPr lang="pl-PL" dirty="0"/>
              <a:t>www.altkomakademia.pl</a:t>
            </a:r>
          </a:p>
        </p:txBody>
      </p:sp>
    </p:spTree>
    <p:extLst>
      <p:ext uri="{BB962C8B-B14F-4D97-AF65-F5344CB8AC3E}">
        <p14:creationId xmlns:p14="http://schemas.microsoft.com/office/powerpoint/2010/main" val="908484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TYTUŁOWY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388" y="195486"/>
            <a:ext cx="5832475" cy="183651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11" name="Symbol zastępczy daty 10"/>
          <p:cNvSpPr>
            <a:spLocks noGrp="1"/>
          </p:cNvSpPr>
          <p:nvPr>
            <p:ph type="dt" sz="half" idx="10"/>
          </p:nvPr>
        </p:nvSpPr>
        <p:spPr>
          <a:xfrm>
            <a:off x="8064499" y="4746178"/>
            <a:ext cx="890253" cy="165832"/>
          </a:xfrm>
          <a:prstGeom prst="rect">
            <a:avLst/>
          </a:prstGeom>
        </p:spPr>
        <p:txBody>
          <a:bodyPr/>
          <a:lstStyle/>
          <a:p>
            <a:r>
              <a:rPr lang="pl-PL" dirty="0"/>
              <a:t>Lifelong learning</a:t>
            </a:r>
          </a:p>
        </p:txBody>
      </p:sp>
      <p:sp>
        <p:nvSpPr>
          <p:cNvPr id="13" name="Symbol zastępczy numeru slajdu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strona</a:t>
            </a:r>
            <a:r>
              <a:rPr lang="pl-PL" dirty="0"/>
              <a:t> </a:t>
            </a:r>
            <a:fld id="{394125C4-3684-431B-A4CC-3BD08A76D7F8}" type="slidenum">
              <a:rPr lang="pl-PL" smtClean="0">
                <a:solidFill>
                  <a:schemeClr val="bg1"/>
                </a:solidFill>
              </a:rPr>
              <a:pPr/>
              <a:t>‹#›</a:t>
            </a:fld>
            <a:endParaRPr lang="pl-PL" dirty="0">
              <a:solidFill>
                <a:schemeClr val="bg1"/>
              </a:solidFill>
            </a:endParaRPr>
          </a:p>
        </p:txBody>
      </p:sp>
      <p:sp>
        <p:nvSpPr>
          <p:cNvPr id="7" name="Symbol zastępczy stopki 4">
            <a:extLst>
              <a:ext uri="{FF2B5EF4-FFF2-40B4-BE49-F238E27FC236}">
                <a16:creationId xmlns:a16="http://schemas.microsoft.com/office/drawing/2014/main" id="{FD56FB7E-4347-0348-9941-E7383487F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59000" y="4746178"/>
            <a:ext cx="1548904" cy="1658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l-PL" dirty="0"/>
              <a:t>www.altkomakademia.pl</a:t>
            </a:r>
          </a:p>
        </p:txBody>
      </p:sp>
    </p:spTree>
    <p:extLst>
      <p:ext uri="{BB962C8B-B14F-4D97-AF65-F5344CB8AC3E}">
        <p14:creationId xmlns:p14="http://schemas.microsoft.com/office/powerpoint/2010/main" val="38725246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KOŃCOW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5328084" y="2751770"/>
            <a:ext cx="2412268" cy="1584176"/>
          </a:xfrm>
        </p:spPr>
        <p:txBody>
          <a:bodyPr anchor="b" anchorCtr="0">
            <a:normAutofit/>
          </a:bodyPr>
          <a:lstStyle>
            <a:lvl1pP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l-PL" dirty="0"/>
              <a:t>strona </a:t>
            </a:r>
            <a:fld id="{D1E8C041-FAE8-4DC5-8211-C4895345858D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10" name="Symbol zastępczy zawartości 2"/>
          <p:cNvSpPr>
            <a:spLocks noGrp="1"/>
          </p:cNvSpPr>
          <p:nvPr>
            <p:ph sz="half" idx="14"/>
          </p:nvPr>
        </p:nvSpPr>
        <p:spPr>
          <a:xfrm>
            <a:off x="5328084" y="2032000"/>
            <a:ext cx="2412268" cy="53975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  <a:latin typeface="+mj-lt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8" name="Symbol zastępczy daty 10">
            <a:extLst>
              <a:ext uri="{FF2B5EF4-FFF2-40B4-BE49-F238E27FC236}">
                <a16:creationId xmlns:a16="http://schemas.microsoft.com/office/drawing/2014/main" id="{433997A2-E817-1E42-AE5F-2F42958722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64499" y="4746178"/>
            <a:ext cx="890253" cy="165832"/>
          </a:xfrm>
          <a:prstGeom prst="rect">
            <a:avLst/>
          </a:prstGeom>
        </p:spPr>
        <p:txBody>
          <a:bodyPr/>
          <a:lstStyle/>
          <a:p>
            <a:r>
              <a:rPr lang="pl-PL" dirty="0"/>
              <a:t>Lifelong learning</a:t>
            </a:r>
          </a:p>
        </p:txBody>
      </p:sp>
      <p:sp>
        <p:nvSpPr>
          <p:cNvPr id="11" name="Symbol zastępczy stopki 4">
            <a:extLst>
              <a:ext uri="{FF2B5EF4-FFF2-40B4-BE49-F238E27FC236}">
                <a16:creationId xmlns:a16="http://schemas.microsoft.com/office/drawing/2014/main" id="{FC1CAF83-51DA-FF44-980B-B9DA13E24E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59000" y="4746178"/>
            <a:ext cx="1548904" cy="1658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l-PL" dirty="0"/>
              <a:t>www.altkomakademia.pl</a:t>
            </a:r>
          </a:p>
        </p:txBody>
      </p:sp>
    </p:spTree>
    <p:extLst>
      <p:ext uri="{BB962C8B-B14F-4D97-AF65-F5344CB8AC3E}">
        <p14:creationId xmlns:p14="http://schemas.microsoft.com/office/powerpoint/2010/main" val="2320203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+ podtytuł + tekst + punktow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75990" y="195487"/>
            <a:ext cx="7780560" cy="576064"/>
          </a:xfrm>
        </p:spPr>
        <p:txBody>
          <a:bodyPr lIns="0" tIns="0" rIns="0" bIns="0" anchor="t">
            <a:normAutofit/>
          </a:bodyPr>
          <a:lstStyle>
            <a:lvl1pPr algn="l">
              <a:defRPr sz="24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2159000" y="2032000"/>
            <a:ext cx="4826000" cy="345442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dirty="0"/>
              <a:t>Kliknij, aby edytować styl wzorca podtytułu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strona</a:t>
            </a:r>
            <a:r>
              <a:rPr lang="pl-PL" dirty="0"/>
              <a:t> </a:t>
            </a:r>
            <a:fld id="{D1E8C041-FAE8-4DC5-8211-C4895345858D}" type="slidenum">
              <a:rPr lang="pl-PL" smtClean="0">
                <a:solidFill>
                  <a:schemeClr val="bg1"/>
                </a:solidFill>
              </a:rPr>
              <a:pPr/>
              <a:t>‹#›</a:t>
            </a:fld>
            <a:endParaRPr lang="pl-PL" dirty="0">
              <a:solidFill>
                <a:schemeClr val="bg1"/>
              </a:solidFill>
            </a:endParaRPr>
          </a:p>
        </p:txBody>
      </p:sp>
      <p:sp>
        <p:nvSpPr>
          <p:cNvPr id="8" name="Symbol zastępczy zawartości 2"/>
          <p:cNvSpPr>
            <a:spLocks noGrp="1"/>
          </p:cNvSpPr>
          <p:nvPr>
            <p:ph sz="half" idx="13"/>
          </p:nvPr>
        </p:nvSpPr>
        <p:spPr>
          <a:xfrm>
            <a:off x="2159000" y="842963"/>
            <a:ext cx="5791200" cy="1080715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9" name="Symbol zastępczy zawartości 2"/>
          <p:cNvSpPr>
            <a:spLocks noGrp="1"/>
          </p:cNvSpPr>
          <p:nvPr>
            <p:ph sz="half" idx="14" hasCustomPrompt="1"/>
          </p:nvPr>
        </p:nvSpPr>
        <p:spPr>
          <a:xfrm>
            <a:off x="4140201" y="2463800"/>
            <a:ext cx="1871662" cy="211941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11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1"/>
            <a:r>
              <a:rPr lang="pl-PL" dirty="0"/>
              <a:t>Drugi poziom</a:t>
            </a:r>
          </a:p>
        </p:txBody>
      </p:sp>
      <p:sp>
        <p:nvSpPr>
          <p:cNvPr id="10" name="Symbol zastępczy zawartości 2"/>
          <p:cNvSpPr>
            <a:spLocks noGrp="1"/>
          </p:cNvSpPr>
          <p:nvPr>
            <p:ph sz="half" idx="15" hasCustomPrompt="1"/>
          </p:nvPr>
        </p:nvSpPr>
        <p:spPr>
          <a:xfrm>
            <a:off x="2159000" y="2463800"/>
            <a:ext cx="1871662" cy="211941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11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1"/>
            <a:r>
              <a:rPr lang="pl-PL" dirty="0"/>
              <a:t>Drugi poziom</a:t>
            </a:r>
          </a:p>
        </p:txBody>
      </p:sp>
      <p:sp>
        <p:nvSpPr>
          <p:cNvPr id="11" name="Symbol zastępczy zawartości 2"/>
          <p:cNvSpPr>
            <a:spLocks noGrp="1"/>
          </p:cNvSpPr>
          <p:nvPr>
            <p:ph sz="half" idx="16" hasCustomPrompt="1"/>
          </p:nvPr>
        </p:nvSpPr>
        <p:spPr>
          <a:xfrm>
            <a:off x="6119813" y="2463800"/>
            <a:ext cx="1836737" cy="211941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11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1"/>
            <a:r>
              <a:rPr lang="pl-PL" dirty="0"/>
              <a:t>Drugi poziom</a:t>
            </a:r>
          </a:p>
        </p:txBody>
      </p:sp>
      <p:sp>
        <p:nvSpPr>
          <p:cNvPr id="12" name="Symbol zastępczy daty 10">
            <a:extLst>
              <a:ext uri="{FF2B5EF4-FFF2-40B4-BE49-F238E27FC236}">
                <a16:creationId xmlns:a16="http://schemas.microsoft.com/office/drawing/2014/main" id="{B3759D4F-10F6-3F48-8AC0-5B0C9871D3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64499" y="4746178"/>
            <a:ext cx="890253" cy="165832"/>
          </a:xfrm>
          <a:prstGeom prst="rect">
            <a:avLst/>
          </a:prstGeom>
        </p:spPr>
        <p:txBody>
          <a:bodyPr/>
          <a:lstStyle/>
          <a:p>
            <a:r>
              <a:rPr lang="pl-PL" dirty="0"/>
              <a:t>Lifelong learning</a:t>
            </a:r>
          </a:p>
        </p:txBody>
      </p:sp>
      <p:sp>
        <p:nvSpPr>
          <p:cNvPr id="14" name="Symbol zastępczy stopki 4">
            <a:extLst>
              <a:ext uri="{FF2B5EF4-FFF2-40B4-BE49-F238E27FC236}">
                <a16:creationId xmlns:a16="http://schemas.microsoft.com/office/drawing/2014/main" id="{1BA739DD-31BA-7447-85C0-9D9A791559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59000" y="4746178"/>
            <a:ext cx="1548904" cy="1658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l-PL" dirty="0"/>
              <a:t>www.altkomakademia.pl</a:t>
            </a:r>
          </a:p>
        </p:txBody>
      </p:sp>
    </p:spTree>
    <p:extLst>
      <p:ext uri="{BB962C8B-B14F-4D97-AF65-F5344CB8AC3E}">
        <p14:creationId xmlns:p14="http://schemas.microsoft.com/office/powerpoint/2010/main" val="24404164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+ tekst + punktow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388" y="195486"/>
            <a:ext cx="8389056" cy="576064"/>
          </a:xfrm>
        </p:spPr>
        <p:txBody>
          <a:bodyPr/>
          <a:lstStyle/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2155825" y="842963"/>
            <a:ext cx="5797550" cy="1080715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l-PL" dirty="0"/>
              <a:t>strona </a:t>
            </a:r>
            <a:fld id="{D1E8C041-FAE8-4DC5-8211-C4895345858D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7" name="Symbol zastępczy zawartości 2"/>
          <p:cNvSpPr>
            <a:spLocks noGrp="1"/>
          </p:cNvSpPr>
          <p:nvPr>
            <p:ph idx="13" hasCustomPrompt="1"/>
          </p:nvPr>
        </p:nvSpPr>
        <p:spPr>
          <a:xfrm>
            <a:off x="2155825" y="2032000"/>
            <a:ext cx="2844800" cy="1800200"/>
          </a:xfrm>
        </p:spPr>
        <p:txBody>
          <a:bodyPr/>
          <a:lstStyle/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8" name="Symbol zastępczy zawartości 2"/>
          <p:cNvSpPr>
            <a:spLocks noGrp="1"/>
          </p:cNvSpPr>
          <p:nvPr>
            <p:ph idx="14" hasCustomPrompt="1"/>
          </p:nvPr>
        </p:nvSpPr>
        <p:spPr>
          <a:xfrm>
            <a:off x="5111750" y="2032000"/>
            <a:ext cx="2844800" cy="1800200"/>
          </a:xfrm>
        </p:spPr>
        <p:txBody>
          <a:bodyPr/>
          <a:lstStyle/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9" name="Symbol zastępczy daty 10">
            <a:extLst>
              <a:ext uri="{FF2B5EF4-FFF2-40B4-BE49-F238E27FC236}">
                <a16:creationId xmlns:a16="http://schemas.microsoft.com/office/drawing/2014/main" id="{74E681E4-5CB7-074A-A3E5-CDC65077DA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64499" y="4746178"/>
            <a:ext cx="890253" cy="165832"/>
          </a:xfrm>
          <a:prstGeom prst="rect">
            <a:avLst/>
          </a:prstGeom>
        </p:spPr>
        <p:txBody>
          <a:bodyPr/>
          <a:lstStyle/>
          <a:p>
            <a:r>
              <a:rPr lang="pl-PL" dirty="0"/>
              <a:t>Lifelong learning</a:t>
            </a:r>
          </a:p>
        </p:txBody>
      </p:sp>
      <p:sp>
        <p:nvSpPr>
          <p:cNvPr id="10" name="Symbol zastępczy stopki 4">
            <a:extLst>
              <a:ext uri="{FF2B5EF4-FFF2-40B4-BE49-F238E27FC236}">
                <a16:creationId xmlns:a16="http://schemas.microsoft.com/office/drawing/2014/main" id="{A639A7D3-5036-D049-92F6-8441E4DE10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59000" y="4746178"/>
            <a:ext cx="1548904" cy="1658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l-PL" dirty="0"/>
              <a:t>www.altkomakademia.pl</a:t>
            </a:r>
          </a:p>
        </p:txBody>
      </p:sp>
    </p:spTree>
    <p:extLst>
      <p:ext uri="{BB962C8B-B14F-4D97-AF65-F5344CB8AC3E}">
        <p14:creationId xmlns:p14="http://schemas.microsoft.com/office/powerpoint/2010/main" val="38954153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2155825" y="842963"/>
            <a:ext cx="5797550" cy="3709007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l-PL" dirty="0"/>
              <a:t>strona </a:t>
            </a:r>
            <a:fld id="{D1E8C041-FAE8-4DC5-8211-C4895345858D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7" name="Symbol zastępczy daty 10">
            <a:extLst>
              <a:ext uri="{FF2B5EF4-FFF2-40B4-BE49-F238E27FC236}">
                <a16:creationId xmlns:a16="http://schemas.microsoft.com/office/drawing/2014/main" id="{90A3C22D-0D6D-6140-9584-4859D29D9B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64499" y="4746178"/>
            <a:ext cx="890253" cy="165832"/>
          </a:xfrm>
          <a:prstGeom prst="rect">
            <a:avLst/>
          </a:prstGeom>
        </p:spPr>
        <p:txBody>
          <a:bodyPr/>
          <a:lstStyle/>
          <a:p>
            <a:r>
              <a:rPr lang="pl-PL" dirty="0"/>
              <a:t>Lifelong learning</a:t>
            </a:r>
          </a:p>
        </p:txBody>
      </p:sp>
      <p:sp>
        <p:nvSpPr>
          <p:cNvPr id="8" name="Symbol zastępczy stopki 4">
            <a:extLst>
              <a:ext uri="{FF2B5EF4-FFF2-40B4-BE49-F238E27FC236}">
                <a16:creationId xmlns:a16="http://schemas.microsoft.com/office/drawing/2014/main" id="{2E8CC6BF-6CC1-BC47-A0F1-DD77C7F05E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59000" y="4746178"/>
            <a:ext cx="1548904" cy="1658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l-PL" dirty="0"/>
              <a:t>www.altkomakademia.pl</a:t>
            </a:r>
          </a:p>
        </p:txBody>
      </p:sp>
    </p:spTree>
    <p:extLst>
      <p:ext uri="{BB962C8B-B14F-4D97-AF65-F5344CB8AC3E}">
        <p14:creationId xmlns:p14="http://schemas.microsoft.com/office/powerpoint/2010/main" val="40279077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główek + tekst + obra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388" y="195486"/>
            <a:ext cx="7777162" cy="504056"/>
          </a:xfrm>
        </p:spPr>
        <p:txBody>
          <a:bodyPr anchor="t" anchorCtr="0"/>
          <a:lstStyle>
            <a:lvl1pPr algn="l">
              <a:defRPr sz="2400" b="1"/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2158999" y="2035175"/>
            <a:ext cx="6805613" cy="262480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 dirty="0"/>
              <a:t>Kliknij ikonę, aby dodać obraz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2159000" y="842963"/>
            <a:ext cx="5797550" cy="75667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l-PL" dirty="0"/>
              <a:t>strona </a:t>
            </a:r>
            <a:fld id="{D1E8C041-FAE8-4DC5-8211-C4895345858D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8" name="Symbol zastępczy daty 10">
            <a:extLst>
              <a:ext uri="{FF2B5EF4-FFF2-40B4-BE49-F238E27FC236}">
                <a16:creationId xmlns:a16="http://schemas.microsoft.com/office/drawing/2014/main" id="{2B09B8D2-B3E1-5C45-A63F-BEA87DF975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64499" y="4746178"/>
            <a:ext cx="890253" cy="165832"/>
          </a:xfrm>
          <a:prstGeom prst="rect">
            <a:avLst/>
          </a:prstGeom>
        </p:spPr>
        <p:txBody>
          <a:bodyPr/>
          <a:lstStyle/>
          <a:p>
            <a:r>
              <a:rPr lang="pl-PL" dirty="0"/>
              <a:t>Lifelong learning</a:t>
            </a:r>
          </a:p>
        </p:txBody>
      </p:sp>
      <p:sp>
        <p:nvSpPr>
          <p:cNvPr id="9" name="Symbol zastępczy stopki 4">
            <a:extLst>
              <a:ext uri="{FF2B5EF4-FFF2-40B4-BE49-F238E27FC236}">
                <a16:creationId xmlns:a16="http://schemas.microsoft.com/office/drawing/2014/main" id="{020E7F07-881B-BB4B-A5C5-85BBD2DADE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59000" y="4746178"/>
            <a:ext cx="1548904" cy="1658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l-PL" dirty="0"/>
              <a:t>www.altkomakademia.pl</a:t>
            </a:r>
          </a:p>
        </p:txBody>
      </p:sp>
    </p:spTree>
    <p:extLst>
      <p:ext uri="{BB962C8B-B14F-4D97-AF65-F5344CB8AC3E}">
        <p14:creationId xmlns:p14="http://schemas.microsoft.com/office/powerpoint/2010/main" val="37582256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+ tekst + blok pra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l-PL" dirty="0"/>
              <a:t>strona </a:t>
            </a:r>
            <a:fld id="{D1E8C041-FAE8-4DC5-8211-C4895345858D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9" name="Symbol zastępczy zawartości 2"/>
          <p:cNvSpPr>
            <a:spLocks noGrp="1"/>
          </p:cNvSpPr>
          <p:nvPr>
            <p:ph sz="half" idx="13"/>
          </p:nvPr>
        </p:nvSpPr>
        <p:spPr>
          <a:xfrm>
            <a:off x="2159000" y="842963"/>
            <a:ext cx="1873250" cy="2304851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10" name="Symbol zastępczy zawartości 2"/>
          <p:cNvSpPr>
            <a:spLocks noGrp="1"/>
          </p:cNvSpPr>
          <p:nvPr>
            <p:ph sz="half" idx="14"/>
          </p:nvPr>
        </p:nvSpPr>
        <p:spPr>
          <a:xfrm>
            <a:off x="4355976" y="1059582"/>
            <a:ext cx="2412268" cy="2412268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11" name="Symbol zastępczy daty 10">
            <a:extLst>
              <a:ext uri="{FF2B5EF4-FFF2-40B4-BE49-F238E27FC236}">
                <a16:creationId xmlns:a16="http://schemas.microsoft.com/office/drawing/2014/main" id="{8F048212-3367-1747-8866-0BC760BD02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64499" y="4746178"/>
            <a:ext cx="890253" cy="165832"/>
          </a:xfrm>
          <a:prstGeom prst="rect">
            <a:avLst/>
          </a:prstGeom>
        </p:spPr>
        <p:txBody>
          <a:bodyPr/>
          <a:lstStyle/>
          <a:p>
            <a:r>
              <a:rPr lang="pl-PL" dirty="0"/>
              <a:t>Lifelong learning</a:t>
            </a:r>
          </a:p>
        </p:txBody>
      </p:sp>
      <p:sp>
        <p:nvSpPr>
          <p:cNvPr id="12" name="Symbol zastępczy stopki 4">
            <a:extLst>
              <a:ext uri="{FF2B5EF4-FFF2-40B4-BE49-F238E27FC236}">
                <a16:creationId xmlns:a16="http://schemas.microsoft.com/office/drawing/2014/main" id="{F00327B0-9D77-2B4B-A0B1-082366E4D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59000" y="4746178"/>
            <a:ext cx="1548904" cy="1658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l-PL" dirty="0"/>
              <a:t>www.altkomakademia.pl</a:t>
            </a:r>
          </a:p>
        </p:txBody>
      </p:sp>
    </p:spTree>
    <p:extLst>
      <p:ext uri="{BB962C8B-B14F-4D97-AF65-F5344CB8AC3E}">
        <p14:creationId xmlns:p14="http://schemas.microsoft.com/office/powerpoint/2010/main" val="4353683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+ blok prawy + zdjęcie w tl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l-PL" dirty="0"/>
              <a:t>strona </a:t>
            </a:r>
            <a:fld id="{D1E8C041-FAE8-4DC5-8211-C4895345858D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10" name="Symbol zastępczy zawartości 2"/>
          <p:cNvSpPr>
            <a:spLocks noGrp="1"/>
          </p:cNvSpPr>
          <p:nvPr>
            <p:ph sz="half" idx="14"/>
          </p:nvPr>
        </p:nvSpPr>
        <p:spPr>
          <a:xfrm>
            <a:off x="4355976" y="1059582"/>
            <a:ext cx="2412268" cy="2412268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9" name="Symbol zastępczy daty 10">
            <a:extLst>
              <a:ext uri="{FF2B5EF4-FFF2-40B4-BE49-F238E27FC236}">
                <a16:creationId xmlns:a16="http://schemas.microsoft.com/office/drawing/2014/main" id="{E04C5A91-9A29-674F-9A39-B740320637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64499" y="4746178"/>
            <a:ext cx="890253" cy="165832"/>
          </a:xfrm>
          <a:prstGeom prst="rect">
            <a:avLst/>
          </a:prstGeom>
        </p:spPr>
        <p:txBody>
          <a:bodyPr/>
          <a:lstStyle/>
          <a:p>
            <a:r>
              <a:rPr lang="pl-PL" dirty="0"/>
              <a:t>Lifelong learning</a:t>
            </a:r>
          </a:p>
        </p:txBody>
      </p:sp>
      <p:sp>
        <p:nvSpPr>
          <p:cNvPr id="11" name="Symbol zastępczy stopki 4">
            <a:extLst>
              <a:ext uri="{FF2B5EF4-FFF2-40B4-BE49-F238E27FC236}">
                <a16:creationId xmlns:a16="http://schemas.microsoft.com/office/drawing/2014/main" id="{6764AE2D-E4B9-244C-A471-F1E130FF3A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59000" y="4746178"/>
            <a:ext cx="1548904" cy="1658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l-PL" dirty="0"/>
              <a:t>www.altkomakademia.pl</a:t>
            </a:r>
          </a:p>
        </p:txBody>
      </p:sp>
    </p:spTree>
    <p:extLst>
      <p:ext uri="{BB962C8B-B14F-4D97-AF65-F5344CB8AC3E}">
        <p14:creationId xmlns:p14="http://schemas.microsoft.com/office/powerpoint/2010/main" val="29731577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+ tekst + blok prawy (bi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l-PL" dirty="0"/>
              <a:t>strona </a:t>
            </a:r>
            <a:fld id="{D1E8C041-FAE8-4DC5-8211-C4895345858D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9" name="Symbol zastępczy zawartości 2"/>
          <p:cNvSpPr>
            <a:spLocks noGrp="1"/>
          </p:cNvSpPr>
          <p:nvPr>
            <p:ph sz="half" idx="13"/>
          </p:nvPr>
        </p:nvSpPr>
        <p:spPr>
          <a:xfrm>
            <a:off x="2159000" y="842963"/>
            <a:ext cx="2844800" cy="2304851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10" name="Symbol zastępczy zawartości 2"/>
          <p:cNvSpPr>
            <a:spLocks noGrp="1"/>
          </p:cNvSpPr>
          <p:nvPr>
            <p:ph sz="half" idx="14"/>
          </p:nvPr>
        </p:nvSpPr>
        <p:spPr>
          <a:xfrm>
            <a:off x="5328084" y="1059582"/>
            <a:ext cx="2412268" cy="2412268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11" name="Symbol zastępczy daty 10">
            <a:extLst>
              <a:ext uri="{FF2B5EF4-FFF2-40B4-BE49-F238E27FC236}">
                <a16:creationId xmlns:a16="http://schemas.microsoft.com/office/drawing/2014/main" id="{C522B8B2-8D12-7F40-8AC2-96C6514973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64499" y="4746178"/>
            <a:ext cx="890253" cy="165832"/>
          </a:xfrm>
          <a:prstGeom prst="rect">
            <a:avLst/>
          </a:prstGeom>
        </p:spPr>
        <p:txBody>
          <a:bodyPr/>
          <a:lstStyle/>
          <a:p>
            <a:r>
              <a:rPr lang="pl-PL" dirty="0"/>
              <a:t>Lifelong learning</a:t>
            </a:r>
          </a:p>
        </p:txBody>
      </p:sp>
      <p:sp>
        <p:nvSpPr>
          <p:cNvPr id="12" name="Symbol zastępczy stopki 4">
            <a:extLst>
              <a:ext uri="{FF2B5EF4-FFF2-40B4-BE49-F238E27FC236}">
                <a16:creationId xmlns:a16="http://schemas.microsoft.com/office/drawing/2014/main" id="{B6C893A3-1EA1-004C-9D13-9ACF83356D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59000" y="4746178"/>
            <a:ext cx="1548904" cy="1658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l-PL" dirty="0"/>
              <a:t>www.altkomakademia.pl</a:t>
            </a:r>
          </a:p>
        </p:txBody>
      </p:sp>
    </p:spTree>
    <p:extLst>
      <p:ext uri="{BB962C8B-B14F-4D97-AF65-F5344CB8AC3E}">
        <p14:creationId xmlns:p14="http://schemas.microsoft.com/office/powerpoint/2010/main" val="33888885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+ blok prawy (bis) + zdjęcie w tl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204" y="0"/>
            <a:ext cx="9144000" cy="5143500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l-PL" dirty="0"/>
              <a:t>strona </a:t>
            </a:r>
            <a:fld id="{D1E8C041-FAE8-4DC5-8211-C4895345858D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10" name="Symbol zastępczy zawartości 2"/>
          <p:cNvSpPr>
            <a:spLocks noGrp="1"/>
          </p:cNvSpPr>
          <p:nvPr>
            <p:ph sz="half" idx="14"/>
          </p:nvPr>
        </p:nvSpPr>
        <p:spPr>
          <a:xfrm>
            <a:off x="5328084" y="1059582"/>
            <a:ext cx="2412268" cy="2412268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8" name="Symbol zastępczy daty 10">
            <a:extLst>
              <a:ext uri="{FF2B5EF4-FFF2-40B4-BE49-F238E27FC236}">
                <a16:creationId xmlns:a16="http://schemas.microsoft.com/office/drawing/2014/main" id="{1721FD9B-7701-494A-BC71-F67CEEFD79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64499" y="4746178"/>
            <a:ext cx="890253" cy="165832"/>
          </a:xfrm>
          <a:prstGeom prst="rect">
            <a:avLst/>
          </a:prstGeom>
        </p:spPr>
        <p:txBody>
          <a:bodyPr/>
          <a:lstStyle/>
          <a:p>
            <a:r>
              <a:rPr lang="pl-PL" dirty="0"/>
              <a:t>Lifelong learning</a:t>
            </a:r>
          </a:p>
        </p:txBody>
      </p:sp>
      <p:sp>
        <p:nvSpPr>
          <p:cNvPr id="9" name="Symbol zastępczy stopki 4">
            <a:extLst>
              <a:ext uri="{FF2B5EF4-FFF2-40B4-BE49-F238E27FC236}">
                <a16:creationId xmlns:a16="http://schemas.microsoft.com/office/drawing/2014/main" id="{EFE03986-8B30-7644-A5C5-89B2C1093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59000" y="4746178"/>
            <a:ext cx="1548904" cy="1658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l-PL" dirty="0"/>
              <a:t>www.altkomakademia.pl</a:t>
            </a:r>
          </a:p>
        </p:txBody>
      </p:sp>
    </p:spTree>
    <p:extLst>
      <p:ext uri="{BB962C8B-B14F-4D97-AF65-F5344CB8AC3E}">
        <p14:creationId xmlns:p14="http://schemas.microsoft.com/office/powerpoint/2010/main" val="22434789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+ numerowanie/etap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ymbol zastępczy zawartości 2"/>
          <p:cNvSpPr>
            <a:spLocks noGrp="1"/>
          </p:cNvSpPr>
          <p:nvPr>
            <p:ph sz="half" idx="21"/>
          </p:nvPr>
        </p:nvSpPr>
        <p:spPr>
          <a:xfrm>
            <a:off x="4532376" y="2014711"/>
            <a:ext cx="720080" cy="442739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  <a:latin typeface="+mj-lt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7" name="Prostokąt 6"/>
          <p:cNvSpPr/>
          <p:nvPr userDrawn="1"/>
        </p:nvSpPr>
        <p:spPr>
          <a:xfrm>
            <a:off x="179388" y="1959682"/>
            <a:ext cx="576188" cy="5569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75990" y="195487"/>
            <a:ext cx="7780560" cy="576064"/>
          </a:xfrm>
        </p:spPr>
        <p:txBody>
          <a:bodyPr lIns="0" tIns="0" rIns="0" bIns="0" anchor="t">
            <a:normAutofit/>
          </a:bodyPr>
          <a:lstStyle>
            <a:lvl1pPr algn="l">
              <a:defRPr sz="24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strona</a:t>
            </a:r>
            <a:r>
              <a:rPr lang="pl-PL" dirty="0"/>
              <a:t> </a:t>
            </a:r>
            <a:fld id="{D1E8C041-FAE8-4DC5-8211-C4895345858D}" type="slidenum">
              <a:rPr lang="pl-PL" smtClean="0">
                <a:solidFill>
                  <a:schemeClr val="bg1"/>
                </a:solidFill>
              </a:rPr>
              <a:pPr/>
              <a:t>‹#›</a:t>
            </a:fld>
            <a:endParaRPr lang="pl-PL" dirty="0">
              <a:solidFill>
                <a:schemeClr val="bg1"/>
              </a:solidFill>
            </a:endParaRPr>
          </a:p>
        </p:txBody>
      </p:sp>
      <p:sp>
        <p:nvSpPr>
          <p:cNvPr id="8" name="Symbol zastępczy zawartości 2"/>
          <p:cNvSpPr>
            <a:spLocks noGrp="1"/>
          </p:cNvSpPr>
          <p:nvPr>
            <p:ph sz="half" idx="13"/>
          </p:nvPr>
        </p:nvSpPr>
        <p:spPr>
          <a:xfrm>
            <a:off x="179388" y="2679762"/>
            <a:ext cx="1260264" cy="1764196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14" name="Symbol zastępczy zawartości 2"/>
          <p:cNvSpPr>
            <a:spLocks noGrp="1"/>
          </p:cNvSpPr>
          <p:nvPr>
            <p:ph sz="half" idx="14"/>
          </p:nvPr>
        </p:nvSpPr>
        <p:spPr>
          <a:xfrm>
            <a:off x="1630384" y="2679762"/>
            <a:ext cx="1260264" cy="1764196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15" name="Symbol zastępczy zawartości 2"/>
          <p:cNvSpPr>
            <a:spLocks noGrp="1"/>
          </p:cNvSpPr>
          <p:nvPr>
            <p:ph sz="half" idx="15"/>
          </p:nvPr>
        </p:nvSpPr>
        <p:spPr>
          <a:xfrm>
            <a:off x="3081380" y="2679762"/>
            <a:ext cx="1260264" cy="1764196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16" name="Symbol zastępczy zawartości 2"/>
          <p:cNvSpPr>
            <a:spLocks noGrp="1"/>
          </p:cNvSpPr>
          <p:nvPr>
            <p:ph sz="half" idx="16"/>
          </p:nvPr>
        </p:nvSpPr>
        <p:spPr>
          <a:xfrm>
            <a:off x="4532376" y="2679762"/>
            <a:ext cx="1260264" cy="1764196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17" name="Symbol zastępczy zawartości 2"/>
          <p:cNvSpPr>
            <a:spLocks noGrp="1"/>
          </p:cNvSpPr>
          <p:nvPr>
            <p:ph sz="half" idx="17"/>
          </p:nvPr>
        </p:nvSpPr>
        <p:spPr>
          <a:xfrm>
            <a:off x="5983372" y="2679762"/>
            <a:ext cx="1260264" cy="1764196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18" name="Symbol zastępczy zawartości 2"/>
          <p:cNvSpPr>
            <a:spLocks noGrp="1"/>
          </p:cNvSpPr>
          <p:nvPr>
            <p:ph sz="half" idx="18"/>
          </p:nvPr>
        </p:nvSpPr>
        <p:spPr>
          <a:xfrm>
            <a:off x="7434368" y="2679762"/>
            <a:ext cx="1260264" cy="1764196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20" name="Symbol zastępczy zawartości 2"/>
          <p:cNvSpPr>
            <a:spLocks noGrp="1"/>
          </p:cNvSpPr>
          <p:nvPr>
            <p:ph sz="half" idx="19"/>
          </p:nvPr>
        </p:nvSpPr>
        <p:spPr>
          <a:xfrm>
            <a:off x="1619672" y="2014711"/>
            <a:ext cx="720080" cy="442739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  <a:latin typeface="+mj-lt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25" name="Symbol zastępczy zawartości 2"/>
          <p:cNvSpPr>
            <a:spLocks noGrp="1"/>
          </p:cNvSpPr>
          <p:nvPr>
            <p:ph sz="half" idx="20"/>
          </p:nvPr>
        </p:nvSpPr>
        <p:spPr>
          <a:xfrm>
            <a:off x="3081380" y="2014711"/>
            <a:ext cx="720080" cy="442739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  <a:latin typeface="+mj-lt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27" name="Symbol zastępczy zawartości 2"/>
          <p:cNvSpPr>
            <a:spLocks noGrp="1"/>
          </p:cNvSpPr>
          <p:nvPr>
            <p:ph sz="half" idx="22"/>
          </p:nvPr>
        </p:nvSpPr>
        <p:spPr>
          <a:xfrm>
            <a:off x="5983372" y="2014711"/>
            <a:ext cx="720080" cy="442739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  <a:latin typeface="+mj-lt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28" name="Symbol zastępczy zawartości 2"/>
          <p:cNvSpPr>
            <a:spLocks noGrp="1"/>
          </p:cNvSpPr>
          <p:nvPr>
            <p:ph sz="half" idx="23" hasCustomPrompt="1"/>
          </p:nvPr>
        </p:nvSpPr>
        <p:spPr>
          <a:xfrm>
            <a:off x="7434368" y="2014711"/>
            <a:ext cx="720080" cy="442739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  <a:latin typeface="+mj-lt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Kl0iknij, aby edytować style wzorca tekstu</a:t>
            </a:r>
          </a:p>
        </p:txBody>
      </p:sp>
      <p:sp>
        <p:nvSpPr>
          <p:cNvPr id="29" name="Symbol zastępczy zawartości 2"/>
          <p:cNvSpPr>
            <a:spLocks noGrp="1"/>
          </p:cNvSpPr>
          <p:nvPr>
            <p:ph sz="half" idx="24"/>
          </p:nvPr>
        </p:nvSpPr>
        <p:spPr>
          <a:xfrm>
            <a:off x="251520" y="2014711"/>
            <a:ext cx="720080" cy="442739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21" name="Symbol zastępczy daty 10">
            <a:extLst>
              <a:ext uri="{FF2B5EF4-FFF2-40B4-BE49-F238E27FC236}">
                <a16:creationId xmlns:a16="http://schemas.microsoft.com/office/drawing/2014/main" id="{D84C980F-DBFF-834E-9CFE-ED1D6F643C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123317" y="4782182"/>
            <a:ext cx="890253" cy="165832"/>
          </a:xfrm>
          <a:prstGeom prst="rect">
            <a:avLst/>
          </a:prstGeom>
        </p:spPr>
        <p:txBody>
          <a:bodyPr/>
          <a:lstStyle>
            <a:lvl1pPr algn="r">
              <a:defRPr sz="600">
                <a:solidFill>
                  <a:schemeClr val="bg1"/>
                </a:solidFill>
              </a:defRPr>
            </a:lvl1pPr>
          </a:lstStyle>
          <a:p>
            <a:r>
              <a:rPr lang="pl-PL" dirty="0"/>
              <a:t>Lifelong learning</a:t>
            </a:r>
          </a:p>
        </p:txBody>
      </p:sp>
      <p:sp>
        <p:nvSpPr>
          <p:cNvPr id="23" name="Symbol zastępczy stopki 4">
            <a:extLst>
              <a:ext uri="{FF2B5EF4-FFF2-40B4-BE49-F238E27FC236}">
                <a16:creationId xmlns:a16="http://schemas.microsoft.com/office/drawing/2014/main" id="{66DA4740-4EE0-8847-B7CE-0CC0D1D91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59000" y="4746178"/>
            <a:ext cx="1548904" cy="1658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l-PL" dirty="0"/>
              <a:t>www.altkomakademia.pl</a:t>
            </a:r>
          </a:p>
        </p:txBody>
      </p:sp>
    </p:spTree>
    <p:extLst>
      <p:ext uri="{BB962C8B-B14F-4D97-AF65-F5344CB8AC3E}">
        <p14:creationId xmlns:p14="http://schemas.microsoft.com/office/powerpoint/2010/main" val="10565795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+ ikonki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ymbol zastępczy obrazu 2"/>
          <p:cNvSpPr>
            <a:spLocks noGrp="1"/>
          </p:cNvSpPr>
          <p:nvPr>
            <p:ph type="pic" idx="25"/>
          </p:nvPr>
        </p:nvSpPr>
        <p:spPr>
          <a:xfrm>
            <a:off x="0" y="1890084"/>
            <a:ext cx="9144000" cy="2500312"/>
          </a:xfrm>
        </p:spPr>
        <p:txBody>
          <a:bodyPr>
            <a:normAutofit/>
          </a:bodyPr>
          <a:lstStyle>
            <a:lvl1pPr marL="0" indent="0">
              <a:buNone/>
              <a:defRPr sz="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 dirty="0"/>
              <a:t>Kliknij ikonę, aby dodać obraz</a:t>
            </a:r>
          </a:p>
        </p:txBody>
      </p:sp>
      <p:sp>
        <p:nvSpPr>
          <p:cNvPr id="24" name="Symbol zastępczy obrazu 2"/>
          <p:cNvSpPr>
            <a:spLocks noGrp="1"/>
          </p:cNvSpPr>
          <p:nvPr>
            <p:ph type="pic" idx="24"/>
          </p:nvPr>
        </p:nvSpPr>
        <p:spPr>
          <a:xfrm>
            <a:off x="0" y="938438"/>
            <a:ext cx="9144000" cy="1578146"/>
          </a:xfrm>
        </p:spPr>
        <p:txBody>
          <a:bodyPr>
            <a:normAutofit/>
          </a:bodyPr>
          <a:lstStyle>
            <a:lvl1pPr marL="0" indent="0">
              <a:buNone/>
              <a:defRPr sz="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 dirty="0"/>
              <a:t>Kliknij ikonę, aby dodać obraz</a:t>
            </a:r>
          </a:p>
        </p:txBody>
      </p:sp>
      <p:sp>
        <p:nvSpPr>
          <p:cNvPr id="35" name="Prostokąt 34"/>
          <p:cNvSpPr/>
          <p:nvPr userDrawn="1"/>
        </p:nvSpPr>
        <p:spPr>
          <a:xfrm>
            <a:off x="5976156" y="1890084"/>
            <a:ext cx="648196" cy="626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34" name="Prostokąt 33"/>
          <p:cNvSpPr/>
          <p:nvPr userDrawn="1"/>
        </p:nvSpPr>
        <p:spPr>
          <a:xfrm>
            <a:off x="1619672" y="1890084"/>
            <a:ext cx="648196" cy="626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7" name="Prostokąt 6"/>
          <p:cNvSpPr/>
          <p:nvPr userDrawn="1"/>
        </p:nvSpPr>
        <p:spPr>
          <a:xfrm>
            <a:off x="179388" y="1890084"/>
            <a:ext cx="648196" cy="626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75990" y="195487"/>
            <a:ext cx="7780560" cy="576064"/>
          </a:xfrm>
        </p:spPr>
        <p:txBody>
          <a:bodyPr lIns="0" tIns="0" rIns="0" bIns="0" anchor="t">
            <a:normAutofit/>
          </a:bodyPr>
          <a:lstStyle>
            <a:lvl1pPr algn="l">
              <a:defRPr sz="24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>
          <a:xfrm>
            <a:off x="8064499" y="4746178"/>
            <a:ext cx="890253" cy="165832"/>
          </a:xfrm>
          <a:prstGeom prst="rect">
            <a:avLst/>
          </a:prstGeom>
        </p:spPr>
        <p:txBody>
          <a:bodyPr/>
          <a:lstStyle/>
          <a:p>
            <a:fld id="{630846F8-47C7-4CDD-B23A-86E21F48119C}" type="datetime1">
              <a:rPr lang="pl-PL" smtClean="0"/>
              <a:t>22.11.2022</a:t>
            </a:fld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strona</a:t>
            </a:r>
            <a:r>
              <a:rPr lang="pl-PL" dirty="0"/>
              <a:t> </a:t>
            </a:r>
            <a:fld id="{D1E8C041-FAE8-4DC5-8211-C4895345858D}" type="slidenum">
              <a:rPr lang="pl-PL" smtClean="0">
                <a:solidFill>
                  <a:schemeClr val="bg1"/>
                </a:solidFill>
              </a:rPr>
              <a:pPr/>
              <a:t>‹#›</a:t>
            </a:fld>
            <a:endParaRPr lang="pl-PL" dirty="0">
              <a:solidFill>
                <a:schemeClr val="bg1"/>
              </a:solidFill>
            </a:endParaRPr>
          </a:p>
        </p:txBody>
      </p:sp>
      <p:sp>
        <p:nvSpPr>
          <p:cNvPr id="8" name="Symbol zastępczy zawartości 2"/>
          <p:cNvSpPr>
            <a:spLocks noGrp="1"/>
          </p:cNvSpPr>
          <p:nvPr>
            <p:ph sz="half" idx="13"/>
          </p:nvPr>
        </p:nvSpPr>
        <p:spPr>
          <a:xfrm>
            <a:off x="179388" y="2679762"/>
            <a:ext cx="1260264" cy="1764196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14" name="Symbol zastępczy zawartości 2"/>
          <p:cNvSpPr>
            <a:spLocks noGrp="1"/>
          </p:cNvSpPr>
          <p:nvPr>
            <p:ph sz="half" idx="14"/>
          </p:nvPr>
        </p:nvSpPr>
        <p:spPr>
          <a:xfrm>
            <a:off x="1630384" y="2679762"/>
            <a:ext cx="1260264" cy="1764196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15" name="Symbol zastępczy zawartości 2"/>
          <p:cNvSpPr>
            <a:spLocks noGrp="1"/>
          </p:cNvSpPr>
          <p:nvPr>
            <p:ph sz="half" idx="15"/>
          </p:nvPr>
        </p:nvSpPr>
        <p:spPr>
          <a:xfrm>
            <a:off x="3081380" y="2679762"/>
            <a:ext cx="1260264" cy="1764196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16" name="Symbol zastępczy zawartości 2"/>
          <p:cNvSpPr>
            <a:spLocks noGrp="1"/>
          </p:cNvSpPr>
          <p:nvPr>
            <p:ph sz="half" idx="16"/>
          </p:nvPr>
        </p:nvSpPr>
        <p:spPr>
          <a:xfrm>
            <a:off x="4532376" y="2679762"/>
            <a:ext cx="1260264" cy="1764196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17" name="Symbol zastępczy zawartości 2"/>
          <p:cNvSpPr>
            <a:spLocks noGrp="1"/>
          </p:cNvSpPr>
          <p:nvPr>
            <p:ph sz="half" idx="17"/>
          </p:nvPr>
        </p:nvSpPr>
        <p:spPr>
          <a:xfrm>
            <a:off x="5983372" y="2679762"/>
            <a:ext cx="1260264" cy="1764196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18" name="Symbol zastępczy zawartości 2"/>
          <p:cNvSpPr>
            <a:spLocks noGrp="1"/>
          </p:cNvSpPr>
          <p:nvPr>
            <p:ph sz="half" idx="18"/>
          </p:nvPr>
        </p:nvSpPr>
        <p:spPr>
          <a:xfrm>
            <a:off x="7434368" y="2679762"/>
            <a:ext cx="1260264" cy="1764196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25" name="Symbol zastępczy obrazu 2"/>
          <p:cNvSpPr>
            <a:spLocks noGrp="1"/>
          </p:cNvSpPr>
          <p:nvPr>
            <p:ph type="pic" idx="19"/>
          </p:nvPr>
        </p:nvSpPr>
        <p:spPr>
          <a:xfrm>
            <a:off x="6030205" y="1933275"/>
            <a:ext cx="540184" cy="540118"/>
          </a:xfrm>
        </p:spPr>
        <p:txBody>
          <a:bodyPr>
            <a:normAutofit/>
          </a:bodyPr>
          <a:lstStyle>
            <a:lvl1pPr marL="0" indent="0">
              <a:buNone/>
              <a:defRPr sz="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 dirty="0"/>
              <a:t>Kliknij ikonę, aby dodać obraz</a:t>
            </a:r>
          </a:p>
        </p:txBody>
      </p:sp>
      <p:sp>
        <p:nvSpPr>
          <p:cNvPr id="26" name="Prostokąt 25"/>
          <p:cNvSpPr/>
          <p:nvPr userDrawn="1"/>
        </p:nvSpPr>
        <p:spPr>
          <a:xfrm>
            <a:off x="3081380" y="1890084"/>
            <a:ext cx="648196" cy="626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7" name="Symbol zastępczy obrazu 2"/>
          <p:cNvSpPr>
            <a:spLocks noGrp="1"/>
          </p:cNvSpPr>
          <p:nvPr>
            <p:ph type="pic" idx="20"/>
          </p:nvPr>
        </p:nvSpPr>
        <p:spPr>
          <a:xfrm>
            <a:off x="3135386" y="1933275"/>
            <a:ext cx="540184" cy="540118"/>
          </a:xfrm>
        </p:spPr>
        <p:txBody>
          <a:bodyPr>
            <a:normAutofit/>
          </a:bodyPr>
          <a:lstStyle>
            <a:lvl1pPr marL="0" indent="0">
              <a:buNone/>
              <a:defRPr sz="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 dirty="0"/>
              <a:t>Kliknij ikonę, aby dodać obraz</a:t>
            </a:r>
          </a:p>
        </p:txBody>
      </p:sp>
      <p:sp>
        <p:nvSpPr>
          <p:cNvPr id="28" name="Prostokąt 27"/>
          <p:cNvSpPr/>
          <p:nvPr userDrawn="1"/>
        </p:nvSpPr>
        <p:spPr>
          <a:xfrm>
            <a:off x="4535996" y="1890084"/>
            <a:ext cx="648196" cy="626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9" name="Symbol zastępczy obrazu 2"/>
          <p:cNvSpPr>
            <a:spLocks noGrp="1"/>
          </p:cNvSpPr>
          <p:nvPr>
            <p:ph type="pic" idx="21"/>
          </p:nvPr>
        </p:nvSpPr>
        <p:spPr>
          <a:xfrm>
            <a:off x="4590002" y="1933275"/>
            <a:ext cx="540184" cy="540118"/>
          </a:xfrm>
        </p:spPr>
        <p:txBody>
          <a:bodyPr>
            <a:normAutofit/>
          </a:bodyPr>
          <a:lstStyle>
            <a:lvl1pPr marL="0" indent="0">
              <a:buNone/>
              <a:defRPr sz="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 dirty="0"/>
              <a:t>Kliknij ikonę, aby dodać obraz</a:t>
            </a:r>
          </a:p>
        </p:txBody>
      </p:sp>
      <p:sp>
        <p:nvSpPr>
          <p:cNvPr id="30" name="Prostokąt 29"/>
          <p:cNvSpPr/>
          <p:nvPr userDrawn="1"/>
        </p:nvSpPr>
        <p:spPr>
          <a:xfrm>
            <a:off x="7434368" y="1890084"/>
            <a:ext cx="648196" cy="626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31" name="Symbol zastępczy obrazu 2"/>
          <p:cNvSpPr>
            <a:spLocks noGrp="1"/>
          </p:cNvSpPr>
          <p:nvPr>
            <p:ph type="pic" idx="22"/>
          </p:nvPr>
        </p:nvSpPr>
        <p:spPr>
          <a:xfrm>
            <a:off x="7488374" y="1933275"/>
            <a:ext cx="540184" cy="540118"/>
          </a:xfrm>
        </p:spPr>
        <p:txBody>
          <a:bodyPr>
            <a:normAutofit/>
          </a:bodyPr>
          <a:lstStyle>
            <a:lvl1pPr marL="0" indent="0">
              <a:buNone/>
              <a:defRPr sz="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 dirty="0"/>
              <a:t>Kliknij ikonę, aby dodać obraz</a:t>
            </a:r>
          </a:p>
        </p:txBody>
      </p:sp>
      <p:sp>
        <p:nvSpPr>
          <p:cNvPr id="32" name="Symbol zastępczy obrazu 2"/>
          <p:cNvSpPr>
            <a:spLocks noGrp="1"/>
          </p:cNvSpPr>
          <p:nvPr>
            <p:ph type="pic" idx="23"/>
          </p:nvPr>
        </p:nvSpPr>
        <p:spPr>
          <a:xfrm>
            <a:off x="1691556" y="1941405"/>
            <a:ext cx="540184" cy="540118"/>
          </a:xfrm>
        </p:spPr>
        <p:txBody>
          <a:bodyPr>
            <a:normAutofit/>
          </a:bodyPr>
          <a:lstStyle>
            <a:lvl1pPr marL="0" indent="0">
              <a:buNone/>
              <a:defRPr sz="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 dirty="0"/>
              <a:t>Kliknij ikonę, aby dodać obraz</a:t>
            </a:r>
          </a:p>
        </p:txBody>
      </p:sp>
      <p:sp>
        <p:nvSpPr>
          <p:cNvPr id="20" name="Symbol zastępczy obrazu 2"/>
          <p:cNvSpPr>
            <a:spLocks noGrp="1"/>
          </p:cNvSpPr>
          <p:nvPr>
            <p:ph type="pic" idx="1"/>
          </p:nvPr>
        </p:nvSpPr>
        <p:spPr>
          <a:xfrm>
            <a:off x="233394" y="1933275"/>
            <a:ext cx="540184" cy="540118"/>
          </a:xfrm>
        </p:spPr>
        <p:txBody>
          <a:bodyPr>
            <a:normAutofit/>
          </a:bodyPr>
          <a:lstStyle>
            <a:lvl1pPr marL="0" indent="0">
              <a:buNone/>
              <a:defRPr sz="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 dirty="0"/>
              <a:t>Kliknij ikonę, aby dodać obraz</a:t>
            </a:r>
          </a:p>
        </p:txBody>
      </p:sp>
      <p:sp>
        <p:nvSpPr>
          <p:cNvPr id="36" name="Symbol zastępczy stopki 4">
            <a:extLst>
              <a:ext uri="{FF2B5EF4-FFF2-40B4-BE49-F238E27FC236}">
                <a16:creationId xmlns:a16="http://schemas.microsoft.com/office/drawing/2014/main" id="{41B3FC49-30F6-0F45-9212-022FD7706D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59000" y="4746178"/>
            <a:ext cx="1548904" cy="1658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l-PL" dirty="0"/>
              <a:t>Zmień tytuł prezentacji we wzorcu</a:t>
            </a:r>
          </a:p>
        </p:txBody>
      </p:sp>
    </p:spTree>
    <p:extLst>
      <p:ext uri="{BB962C8B-B14F-4D97-AF65-F5344CB8AC3E}">
        <p14:creationId xmlns:p14="http://schemas.microsoft.com/office/powerpoint/2010/main" val="1223700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179388" y="195486"/>
            <a:ext cx="8389056" cy="57606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179388" y="846584"/>
            <a:ext cx="6805613" cy="34209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064499" y="4746178"/>
            <a:ext cx="890253" cy="1658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pl-PL"/>
              <a:t>Lifelong learning</a:t>
            </a: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2159000" y="4746178"/>
            <a:ext cx="1836936" cy="1658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pl-PL" dirty="0"/>
              <a:t>www.altkomakademia.pl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4137149" y="4767994"/>
            <a:ext cx="866651" cy="144016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pl-PL"/>
              <a:t>strona </a:t>
            </a:r>
            <a:fld id="{394125C4-3684-431B-A4CC-3BD08A76D7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04940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49" r:id="rId2"/>
    <p:sldLayoutId id="2147483650" r:id="rId3"/>
    <p:sldLayoutId id="2147483660" r:id="rId4"/>
    <p:sldLayoutId id="2147483657" r:id="rId5"/>
    <p:sldLayoutId id="2147483654" r:id="rId6"/>
    <p:sldLayoutId id="2147483655" r:id="rId7"/>
    <p:sldLayoutId id="2147483656" r:id="rId8"/>
    <p:sldLayoutId id="2147483674" r:id="rId9"/>
    <p:sldLayoutId id="2147483692" r:id="rId10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762" indent="0" algn="l" defTabSz="914400" rtl="0" eaLnBrk="1" latinLnBrk="0" hangingPunct="1">
        <a:lnSpc>
          <a:spcPct val="100000"/>
        </a:lnSpc>
        <a:spcBef>
          <a:spcPts val="2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90488" indent="-90488" algn="l" defTabSz="914400" rtl="0" eaLnBrk="1" latinLnBrk="0" hangingPunct="1">
        <a:lnSpc>
          <a:spcPct val="100000"/>
        </a:lnSpc>
        <a:spcBef>
          <a:spcPts val="200"/>
        </a:spcBef>
        <a:buFont typeface="Lexend" pitchFamily="2" charset="-18"/>
        <a:buChar char="–"/>
        <a:defRPr sz="1100" kern="1200">
          <a:solidFill>
            <a:schemeClr val="tx2"/>
          </a:solidFill>
          <a:latin typeface="+mn-lt"/>
          <a:ea typeface="+mn-ea"/>
          <a:cs typeface="+mn-cs"/>
        </a:defRPr>
      </a:lvl2pPr>
      <a:lvl3pPr marL="180975" indent="-85725" algn="l" defTabSz="914400" rtl="0" eaLnBrk="1" latinLnBrk="0" hangingPunct="1">
        <a:lnSpc>
          <a:spcPct val="100000"/>
        </a:lnSpc>
        <a:spcBef>
          <a:spcPts val="200"/>
        </a:spcBef>
        <a:buFont typeface="Lexend" pitchFamily="2" charset="-18"/>
        <a:buChar char="–"/>
        <a:tabLst>
          <a:tab pos="0" algn="l"/>
        </a:tabLst>
        <a:defRPr sz="1100" kern="1200">
          <a:solidFill>
            <a:schemeClr val="tx2"/>
          </a:solidFill>
          <a:latin typeface="+mn-lt"/>
          <a:ea typeface="+mn-ea"/>
          <a:cs typeface="+mn-cs"/>
        </a:defRPr>
      </a:lvl3pPr>
      <a:lvl4pPr marL="266700" indent="-90488" algn="l" defTabSz="914400" rtl="0" eaLnBrk="1" latinLnBrk="0" hangingPunct="1">
        <a:lnSpc>
          <a:spcPct val="100000"/>
        </a:lnSpc>
        <a:spcBef>
          <a:spcPts val="200"/>
        </a:spcBef>
        <a:buFont typeface="Lexend" pitchFamily="2" charset="-18"/>
        <a:buChar char="–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357188" indent="-90488" algn="l" defTabSz="914400" rtl="0" eaLnBrk="1" latinLnBrk="0" hangingPunct="1">
        <a:lnSpc>
          <a:spcPct val="100000"/>
        </a:lnSpc>
        <a:spcBef>
          <a:spcPts val="2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179388" y="195486"/>
            <a:ext cx="8389056" cy="57606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179388" y="846584"/>
            <a:ext cx="6805613" cy="34209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2159000" y="4746178"/>
            <a:ext cx="1548904" cy="1658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l-PL" dirty="0"/>
              <a:t>www.altkomakademia.pl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4137149" y="4767994"/>
            <a:ext cx="866651" cy="144016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pl-PL">
                <a:solidFill>
                  <a:schemeClr val="bg1"/>
                </a:solidFill>
              </a:rPr>
              <a:t>strona</a:t>
            </a:r>
            <a:r>
              <a:rPr lang="pl-PL"/>
              <a:t> </a:t>
            </a:r>
            <a:fld id="{394125C4-3684-431B-A4CC-3BD08A76D7F8}" type="slidenum">
              <a:rPr lang="pl-PL" smtClean="0">
                <a:solidFill>
                  <a:schemeClr val="bg1"/>
                </a:solidFill>
              </a:rPr>
              <a:pPr/>
              <a:t>‹#›</a:t>
            </a:fld>
            <a:endParaRPr lang="pl-PL">
              <a:solidFill>
                <a:schemeClr val="bg1"/>
              </a:solidFill>
            </a:endParaRPr>
          </a:p>
        </p:txBody>
      </p:sp>
      <p:pic>
        <p:nvPicPr>
          <p:cNvPr id="8" name="Obraz 7"/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388" y="4732371"/>
            <a:ext cx="900112" cy="213283"/>
          </a:xfrm>
          <a:prstGeom prst="rect">
            <a:avLst/>
          </a:prstGeom>
        </p:spPr>
      </p:pic>
      <p:sp>
        <p:nvSpPr>
          <p:cNvPr id="9" name="Symbol zastępczy daty 3">
            <a:extLst>
              <a:ext uri="{FF2B5EF4-FFF2-40B4-BE49-F238E27FC236}">
                <a16:creationId xmlns:a16="http://schemas.microsoft.com/office/drawing/2014/main" id="{E0C87163-99F9-5949-B34F-A70219BAD8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64499" y="4746178"/>
            <a:ext cx="890253" cy="1658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l-PL"/>
              <a:t>Lifelong learning</a:t>
            </a:r>
          </a:p>
        </p:txBody>
      </p:sp>
    </p:spTree>
    <p:extLst>
      <p:ext uri="{BB962C8B-B14F-4D97-AF65-F5344CB8AC3E}">
        <p14:creationId xmlns:p14="http://schemas.microsoft.com/office/powerpoint/2010/main" val="2247996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5" r:id="rId2"/>
    <p:sldLayoutId id="2147483662" r:id="rId3"/>
    <p:sldLayoutId id="2147483663" r:id="rId4"/>
    <p:sldLayoutId id="2147483664" r:id="rId5"/>
    <p:sldLayoutId id="2147483665" r:id="rId6"/>
    <p:sldLayoutId id="2147483676" r:id="rId7"/>
    <p:sldLayoutId id="2147483671" r:id="rId8"/>
    <p:sldLayoutId id="2147483672" r:id="rId9"/>
    <p:sldLayoutId id="2147483673" r:id="rId10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762" indent="0" algn="l" defTabSz="914400" rtl="0" eaLnBrk="1" latinLnBrk="0" hangingPunct="1">
        <a:lnSpc>
          <a:spcPct val="100000"/>
        </a:lnSpc>
        <a:spcBef>
          <a:spcPts val="200"/>
        </a:spcBef>
        <a:buFontTx/>
        <a:buNone/>
        <a:defRPr sz="1400" kern="1200">
          <a:solidFill>
            <a:schemeClr val="bg1"/>
          </a:solidFill>
          <a:latin typeface="+mn-lt"/>
          <a:ea typeface="+mn-ea"/>
          <a:cs typeface="+mn-cs"/>
        </a:defRPr>
      </a:lvl1pPr>
      <a:lvl2pPr marL="90488" indent="-90488" algn="l" defTabSz="914400" rtl="0" eaLnBrk="1" latinLnBrk="0" hangingPunct="1">
        <a:lnSpc>
          <a:spcPct val="100000"/>
        </a:lnSpc>
        <a:spcBef>
          <a:spcPts val="200"/>
        </a:spcBef>
        <a:buFont typeface="Lexend" pitchFamily="2" charset="-18"/>
        <a:buChar char="–"/>
        <a:defRPr sz="1100" kern="1200">
          <a:solidFill>
            <a:schemeClr val="bg1"/>
          </a:solidFill>
          <a:latin typeface="+mn-lt"/>
          <a:ea typeface="+mn-ea"/>
          <a:cs typeface="+mn-cs"/>
        </a:defRPr>
      </a:lvl2pPr>
      <a:lvl3pPr marL="180975" indent="-85725" algn="l" defTabSz="914400" rtl="0" eaLnBrk="1" latinLnBrk="0" hangingPunct="1">
        <a:lnSpc>
          <a:spcPct val="100000"/>
        </a:lnSpc>
        <a:spcBef>
          <a:spcPts val="200"/>
        </a:spcBef>
        <a:buFont typeface="Lexend" pitchFamily="2" charset="-18"/>
        <a:buChar char="–"/>
        <a:tabLst>
          <a:tab pos="0" algn="l"/>
        </a:tabLst>
        <a:defRPr sz="1100" kern="1200">
          <a:solidFill>
            <a:schemeClr val="bg1"/>
          </a:solidFill>
          <a:latin typeface="+mn-lt"/>
          <a:ea typeface="+mn-ea"/>
          <a:cs typeface="+mn-cs"/>
        </a:defRPr>
      </a:lvl3pPr>
      <a:lvl4pPr marL="266700" indent="-90488" algn="l" defTabSz="914400" rtl="0" eaLnBrk="1" latinLnBrk="0" hangingPunct="1">
        <a:lnSpc>
          <a:spcPct val="100000"/>
        </a:lnSpc>
        <a:spcBef>
          <a:spcPts val="200"/>
        </a:spcBef>
        <a:buFont typeface="Lexend" pitchFamily="2" charset="-18"/>
        <a:buChar char="–"/>
        <a:defRPr sz="1100" kern="1200">
          <a:solidFill>
            <a:schemeClr val="bg1"/>
          </a:solidFill>
          <a:latin typeface="+mn-lt"/>
          <a:ea typeface="+mn-ea"/>
          <a:cs typeface="+mn-cs"/>
        </a:defRPr>
      </a:lvl4pPr>
      <a:lvl5pPr marL="357188" indent="-90488" algn="l" defTabSz="914400" rtl="0" eaLnBrk="1" latinLnBrk="0" hangingPunct="1">
        <a:lnSpc>
          <a:spcPct val="100000"/>
        </a:lnSpc>
        <a:spcBef>
          <a:spcPts val="200"/>
        </a:spcBef>
        <a:buFont typeface="Arial" panose="020B0604020202020204" pitchFamily="34" charset="0"/>
        <a:buChar char="•"/>
        <a:defRPr sz="11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179388" y="195486"/>
            <a:ext cx="8389056" cy="57606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179388" y="846584"/>
            <a:ext cx="6805613" cy="34209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4137149" y="4767994"/>
            <a:ext cx="866651" cy="144016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pl-PL">
                <a:solidFill>
                  <a:schemeClr val="bg1"/>
                </a:solidFill>
              </a:rPr>
              <a:t>strona</a:t>
            </a:r>
            <a:r>
              <a:rPr lang="pl-PL"/>
              <a:t> </a:t>
            </a:r>
            <a:fld id="{394125C4-3684-431B-A4CC-3BD08A76D7F8}" type="slidenum">
              <a:rPr lang="pl-PL" smtClean="0">
                <a:solidFill>
                  <a:schemeClr val="bg1"/>
                </a:solidFill>
              </a:rPr>
              <a:pPr/>
              <a:t>‹#›</a:t>
            </a:fld>
            <a:endParaRPr lang="pl-PL">
              <a:solidFill>
                <a:schemeClr val="bg1"/>
              </a:solidFill>
            </a:endParaRPr>
          </a:p>
        </p:txBody>
      </p:sp>
      <p:pic>
        <p:nvPicPr>
          <p:cNvPr id="8" name="Obraz 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388" y="4732371"/>
            <a:ext cx="900112" cy="213283"/>
          </a:xfrm>
          <a:prstGeom prst="rect">
            <a:avLst/>
          </a:prstGeom>
        </p:spPr>
      </p:pic>
      <p:sp>
        <p:nvSpPr>
          <p:cNvPr id="10" name="Symbol zastępczy daty 10">
            <a:extLst>
              <a:ext uri="{FF2B5EF4-FFF2-40B4-BE49-F238E27FC236}">
                <a16:creationId xmlns:a16="http://schemas.microsoft.com/office/drawing/2014/main" id="{3287BF80-3A74-DB47-8E82-3BB3B6EE8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123317" y="4782182"/>
            <a:ext cx="890253" cy="165832"/>
          </a:xfrm>
          <a:prstGeom prst="rect">
            <a:avLst/>
          </a:prstGeom>
        </p:spPr>
        <p:txBody>
          <a:bodyPr/>
          <a:lstStyle>
            <a:lvl1pPr algn="r">
              <a:defRPr sz="600">
                <a:solidFill>
                  <a:schemeClr val="bg1"/>
                </a:solidFill>
              </a:defRPr>
            </a:lvl1pPr>
          </a:lstStyle>
          <a:p>
            <a:r>
              <a:rPr lang="pl-PL"/>
              <a:t>Lifelong learning</a:t>
            </a:r>
          </a:p>
        </p:txBody>
      </p:sp>
      <p:sp>
        <p:nvSpPr>
          <p:cNvPr id="11" name="Symbol zastępczy stopki 4">
            <a:extLst>
              <a:ext uri="{FF2B5EF4-FFF2-40B4-BE49-F238E27FC236}">
                <a16:creationId xmlns:a16="http://schemas.microsoft.com/office/drawing/2014/main" id="{BCFFF16D-116E-524C-81F0-97167D5CB9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59000" y="4746178"/>
            <a:ext cx="1548904" cy="16583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l-PL" dirty="0"/>
              <a:t>www.altkomakademia.pl</a:t>
            </a:r>
          </a:p>
        </p:txBody>
      </p:sp>
    </p:spTree>
    <p:extLst>
      <p:ext uri="{BB962C8B-B14F-4D97-AF65-F5344CB8AC3E}">
        <p14:creationId xmlns:p14="http://schemas.microsoft.com/office/powerpoint/2010/main" val="3722493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90" r:id="rId2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762" indent="0" algn="l" defTabSz="914400" rtl="0" eaLnBrk="1" latinLnBrk="0" hangingPunct="1">
        <a:lnSpc>
          <a:spcPct val="100000"/>
        </a:lnSpc>
        <a:spcBef>
          <a:spcPts val="200"/>
        </a:spcBef>
        <a:buFontTx/>
        <a:buNone/>
        <a:defRPr sz="1400" kern="1200">
          <a:solidFill>
            <a:schemeClr val="bg1"/>
          </a:solidFill>
          <a:latin typeface="+mn-lt"/>
          <a:ea typeface="+mn-ea"/>
          <a:cs typeface="+mn-cs"/>
        </a:defRPr>
      </a:lvl1pPr>
      <a:lvl2pPr marL="90488" indent="-90488" algn="l" defTabSz="914400" rtl="0" eaLnBrk="1" latinLnBrk="0" hangingPunct="1">
        <a:lnSpc>
          <a:spcPct val="100000"/>
        </a:lnSpc>
        <a:spcBef>
          <a:spcPts val="200"/>
        </a:spcBef>
        <a:buFont typeface="Lexend" pitchFamily="2" charset="-18"/>
        <a:buChar char="–"/>
        <a:defRPr sz="1100" kern="1200">
          <a:solidFill>
            <a:schemeClr val="bg1"/>
          </a:solidFill>
          <a:latin typeface="+mn-lt"/>
          <a:ea typeface="+mn-ea"/>
          <a:cs typeface="+mn-cs"/>
        </a:defRPr>
      </a:lvl2pPr>
      <a:lvl3pPr marL="180975" indent="-85725" algn="l" defTabSz="914400" rtl="0" eaLnBrk="1" latinLnBrk="0" hangingPunct="1">
        <a:lnSpc>
          <a:spcPct val="100000"/>
        </a:lnSpc>
        <a:spcBef>
          <a:spcPts val="200"/>
        </a:spcBef>
        <a:buFont typeface="Lexend" pitchFamily="2" charset="-18"/>
        <a:buChar char="–"/>
        <a:tabLst>
          <a:tab pos="0" algn="l"/>
        </a:tabLst>
        <a:defRPr sz="1100" kern="1200">
          <a:solidFill>
            <a:schemeClr val="bg1"/>
          </a:solidFill>
          <a:latin typeface="+mn-lt"/>
          <a:ea typeface="+mn-ea"/>
          <a:cs typeface="+mn-cs"/>
        </a:defRPr>
      </a:lvl3pPr>
      <a:lvl4pPr marL="266700" indent="-90488" algn="l" defTabSz="914400" rtl="0" eaLnBrk="1" latinLnBrk="0" hangingPunct="1">
        <a:lnSpc>
          <a:spcPct val="100000"/>
        </a:lnSpc>
        <a:spcBef>
          <a:spcPts val="200"/>
        </a:spcBef>
        <a:buFont typeface="Lexend" pitchFamily="2" charset="-18"/>
        <a:buChar char="–"/>
        <a:defRPr sz="1100" kern="1200">
          <a:solidFill>
            <a:schemeClr val="bg1"/>
          </a:solidFill>
          <a:latin typeface="+mn-lt"/>
          <a:ea typeface="+mn-ea"/>
          <a:cs typeface="+mn-cs"/>
        </a:defRPr>
      </a:lvl4pPr>
      <a:lvl5pPr marL="357188" indent="-90488" algn="l" defTabSz="914400" rtl="0" eaLnBrk="1" latinLnBrk="0" hangingPunct="1">
        <a:lnSpc>
          <a:spcPct val="100000"/>
        </a:lnSpc>
        <a:spcBef>
          <a:spcPts val="200"/>
        </a:spcBef>
        <a:buFont typeface="Arial" panose="020B0604020202020204" pitchFamily="34" charset="0"/>
        <a:buChar char="•"/>
        <a:defRPr sz="11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4B5AC7E-C7DC-41AA-151D-A47B847130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990" y="195486"/>
            <a:ext cx="8860506" cy="1008111"/>
          </a:xfrm>
        </p:spPr>
        <p:txBody>
          <a:bodyPr>
            <a:normAutofit/>
          </a:bodyPr>
          <a:lstStyle/>
          <a:p>
            <a:pPr algn="ctr"/>
            <a:r>
              <a:rPr lang="pl-PL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 pitchFamily="34" charset="0"/>
              </a:rPr>
              <a:t>Podstawy języka UML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583480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313AA9-9CC4-3924-AE6B-8BB124D7F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Plan szkolenia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D5D9CF4-76FB-1D50-8105-D5B52FD64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l-P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Diagramy klas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l-P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atrybuty i operacje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l-P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atrybuty statyczne i obliczalne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l-P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relacje: asocjacja, kompozycja, agregacja generalizacja, zależność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l-P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klasy abstrakcyjne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l-P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Pakiety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l-P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przeznaczenie, zagnieżdżanie pakietów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l-P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przestrzeń nazw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l-PL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Widoczność elementów </a:t>
            </a:r>
            <a:endParaRPr lang="pl-P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l-PL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reguły dla +, -, #, ~</a:t>
            </a:r>
            <a:endParaRPr lang="pl-P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l-P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Diagramy sekwencji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l-P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prosty przykład diagramu sekwencji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l-P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operatory: 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alt, opt, loop, break, parallel, ref</a:t>
            </a:r>
            <a:endParaRPr lang="pl-P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7EEFC6A-7E15-7A06-089E-A7728B0F8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2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66DB8FF-D89A-8D67-A613-F48FC3F0622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4E68FB2-3F54-4B8F-32C3-76D1ED76F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554619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A262E6-3FF8-F9EF-4282-4DB641998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Czym jest UML?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60E617C-C850-47A8-F4C1-54B5909C4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 err="1"/>
              <a:t>Unified</a:t>
            </a:r>
            <a:r>
              <a:rPr lang="pl-PL" dirty="0"/>
              <a:t> Modeling Language - jest graficznym językiem modelowania </a:t>
            </a:r>
            <a:br>
              <a:rPr lang="pl-PL" dirty="0"/>
            </a:br>
            <a:r>
              <a:rPr lang="pl-PL" dirty="0"/>
              <a:t>ze zdefiniowaną:</a:t>
            </a:r>
          </a:p>
          <a:p>
            <a:pPr marL="719138" lvl="1" indent="-365125">
              <a:buFont typeface="Arial" panose="020B0604020202020204" pitchFamily="34" charset="0"/>
              <a:buChar char="•"/>
            </a:pPr>
            <a:r>
              <a:rPr lang="pl-PL" sz="1400" dirty="0"/>
              <a:t>notacją (=syntaktyką konkretną)</a:t>
            </a:r>
          </a:p>
          <a:p>
            <a:pPr marL="719138" lvl="1" indent="-365125">
              <a:buFont typeface="Arial" panose="020B0604020202020204" pitchFamily="34" charset="0"/>
              <a:buChar char="•"/>
            </a:pPr>
            <a:r>
              <a:rPr lang="pl-PL" sz="1400" dirty="0"/>
              <a:t>semantyką</a:t>
            </a:r>
          </a:p>
          <a:p>
            <a:pPr marL="719138" lvl="1" indent="-365125">
              <a:buFont typeface="Arial" panose="020B0604020202020204" pitchFamily="34" charset="0"/>
              <a:buChar char="•"/>
            </a:pPr>
            <a:r>
              <a:rPr lang="pl-PL" sz="1400" dirty="0"/>
              <a:t>pragmatyką.</a:t>
            </a:r>
          </a:p>
          <a:p>
            <a:pPr marL="0" indent="0">
              <a:buNone/>
            </a:pPr>
            <a:r>
              <a:rPr lang="pl-PL" dirty="0"/>
              <a:t>Celem UML jest dostarczenie twórcom oprogramowania narzędzi do: </a:t>
            </a:r>
          </a:p>
          <a:p>
            <a:pPr marL="719138" indent="-342900">
              <a:buFont typeface="Arial" panose="020B0604020202020204" pitchFamily="34" charset="0"/>
              <a:buChar char="•"/>
            </a:pPr>
            <a:r>
              <a:rPr lang="pl-PL" dirty="0"/>
              <a:t>analizy, projektowania i implementacji systemów wykorzystujących IT</a:t>
            </a:r>
          </a:p>
          <a:p>
            <a:pPr marL="719138" indent="-342900">
              <a:buFont typeface="Arial" panose="020B0604020202020204" pitchFamily="34" charset="0"/>
              <a:buChar char="•"/>
            </a:pPr>
            <a:r>
              <a:rPr lang="pl-PL" dirty="0"/>
              <a:t>modelowania procesów biznesowych i innych.</a:t>
            </a:r>
          </a:p>
          <a:p>
            <a:pPr marL="0" indent="0">
              <a:buNone/>
            </a:pPr>
            <a:r>
              <a:rPr lang="pl-PL" dirty="0"/>
              <a:t>Wykorzystuje pojęcia i mechanizmy takie jak:</a:t>
            </a:r>
          </a:p>
          <a:p>
            <a:pPr marL="860425" lvl="2" indent="-457200">
              <a:buFont typeface="Arial" panose="020B0604020202020204" pitchFamily="34" charset="0"/>
              <a:buChar char="•"/>
            </a:pPr>
            <a:r>
              <a:rPr lang="pl-PL" sz="1400" dirty="0"/>
              <a:t>obiekt i jego właściwości,  klasa jako definicja obiektów</a:t>
            </a:r>
          </a:p>
          <a:p>
            <a:pPr marL="860425" lvl="2" indent="-457200">
              <a:buFont typeface="Arial" panose="020B0604020202020204" pitchFamily="34" charset="0"/>
              <a:buChar char="•"/>
            </a:pPr>
            <a:r>
              <a:rPr lang="pl-PL" sz="1400" dirty="0"/>
              <a:t>relacje </a:t>
            </a:r>
          </a:p>
          <a:p>
            <a:pPr marL="860425" lvl="2" indent="-457200">
              <a:buFont typeface="Arial" panose="020B0604020202020204" pitchFamily="34" charset="0"/>
              <a:buChar char="•"/>
            </a:pPr>
            <a:r>
              <a:rPr lang="pl-PL" sz="1400" dirty="0"/>
              <a:t>abstrakcja</a:t>
            </a:r>
          </a:p>
          <a:p>
            <a:pPr marL="860425" lvl="2" indent="-457200">
              <a:buFont typeface="Arial" panose="020B0604020202020204" pitchFamily="34" charset="0"/>
              <a:buChar char="•"/>
            </a:pPr>
            <a:r>
              <a:rPr lang="pl-PL" sz="1400" dirty="0"/>
              <a:t>kompozycja </a:t>
            </a:r>
            <a:endParaRPr lang="en-US" dirty="0"/>
          </a:p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5DD0592-668B-37D6-00DA-9FBE32B3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3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5F4D06B-7A62-C797-8997-7814FFEBED2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3CFBE29-7D0B-464F-5BEF-D271FB637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  <p:pic>
        <p:nvPicPr>
          <p:cNvPr id="8" name="Picture 356" descr="umlicon">
            <a:extLst>
              <a:ext uri="{FF2B5EF4-FFF2-40B4-BE49-F238E27FC236}">
                <a16:creationId xmlns:a16="http://schemas.microsoft.com/office/drawing/2014/main" id="{A2DDF9A7-3E5F-FF81-5908-5FC8B9313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403" y="51470"/>
            <a:ext cx="1989101" cy="1368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6314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CAF49C-9600-F90E-172C-154CA01B8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Podstawowe informacje o UML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A01AC96-9ECA-A265-9DB1-EA3C58041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5824" y="842963"/>
            <a:ext cx="6520631" cy="3709007"/>
          </a:xfrm>
        </p:spPr>
        <p:txBody>
          <a:bodyPr/>
          <a:lstStyle/>
          <a:p>
            <a:r>
              <a:rPr lang="pl-PL" dirty="0"/>
              <a:t>UML powstał w 1995 roku. </a:t>
            </a:r>
          </a:p>
          <a:p>
            <a:r>
              <a:rPr lang="pl-PL" dirty="0"/>
              <a:t>Istotne zmiany zostały wprowadzone w wersji 2.0, różnice pomiędzy kolejnymi wersjami są niewielkie.</a:t>
            </a:r>
          </a:p>
          <a:p>
            <a:r>
              <a:rPr lang="pl-PL" dirty="0"/>
              <a:t>Obecnie obowiązująca jest wersja 2.5.1 z 2017.</a:t>
            </a:r>
          </a:p>
          <a:p>
            <a:r>
              <a:rPr lang="pl-PL" dirty="0"/>
              <a:t>Właścicielem UML jest Object Management </a:t>
            </a:r>
            <a:r>
              <a:rPr lang="pl-PL" dirty="0" err="1"/>
              <a:t>Group</a:t>
            </a:r>
            <a:r>
              <a:rPr lang="pl-PL" dirty="0"/>
              <a:t>.</a:t>
            </a:r>
          </a:p>
          <a:p>
            <a:r>
              <a:rPr lang="pl-PL" dirty="0"/>
              <a:t>Znajomość UML może być potwierdzona trójstopniowym certyfikatem OCUP2.</a:t>
            </a:r>
          </a:p>
          <a:p>
            <a:endParaRPr lang="en-US" dirty="0"/>
          </a:p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67A8339-3630-5858-DF01-12F4B10BA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4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146E6B2-636F-B94B-121B-FDF2C9120D8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0DFFB5F-C0FD-6798-63FD-927C2349A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991947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9DD456D-E693-818A-AB9E-F5CE49F9A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altLang="pl-PL" dirty="0"/>
              <a:t>Diagramy UML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BF8A085-88BC-8F50-37DA-28468B1DE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6546" y="806959"/>
            <a:ext cx="5797550" cy="3709007"/>
          </a:xfrm>
        </p:spPr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9C7B09F-F368-4653-FB7D-01FFB81A5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37149" y="4479600"/>
            <a:ext cx="866651" cy="144016"/>
          </a:xfrm>
        </p:spPr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5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A8C4686-BE5D-0A97-7E82-772EA557B8A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7A221705-6C98-2796-68A7-84AFC0593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9000" y="4479600"/>
            <a:ext cx="1836936" cy="144016"/>
          </a:xfrm>
        </p:spPr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B6D00C1-39E9-2E22-D902-5C8E3086A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289" y="789264"/>
            <a:ext cx="7598047" cy="3726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" name="Gwiazda: 7 punktów 40">
            <a:extLst>
              <a:ext uri="{FF2B5EF4-FFF2-40B4-BE49-F238E27FC236}">
                <a16:creationId xmlns:a16="http://schemas.microsoft.com/office/drawing/2014/main" id="{CBECB721-D935-4CCA-B86B-581E329A93CF}"/>
              </a:ext>
            </a:extLst>
          </p:cNvPr>
          <p:cNvSpPr/>
          <p:nvPr/>
        </p:nvSpPr>
        <p:spPr>
          <a:xfrm>
            <a:off x="1877166" y="2387568"/>
            <a:ext cx="288032" cy="283911"/>
          </a:xfrm>
          <a:prstGeom prst="star7">
            <a:avLst/>
          </a:prstGeom>
          <a:solidFill>
            <a:srgbClr val="FFC000">
              <a:alpha val="4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3" name="Gwiazda: 7 punktów 52">
            <a:extLst>
              <a:ext uri="{FF2B5EF4-FFF2-40B4-BE49-F238E27FC236}">
                <a16:creationId xmlns:a16="http://schemas.microsoft.com/office/drawing/2014/main" id="{C55EEF12-3E44-3860-DE38-422D048BF8B1}"/>
              </a:ext>
            </a:extLst>
          </p:cNvPr>
          <p:cNvSpPr/>
          <p:nvPr/>
        </p:nvSpPr>
        <p:spPr>
          <a:xfrm>
            <a:off x="5626117" y="3685813"/>
            <a:ext cx="288032" cy="283911"/>
          </a:xfrm>
          <a:prstGeom prst="star7">
            <a:avLst/>
          </a:prstGeom>
          <a:solidFill>
            <a:srgbClr val="FFC000">
              <a:alpha val="4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Gwiazda: 7 punktów 8">
            <a:extLst>
              <a:ext uri="{FF2B5EF4-FFF2-40B4-BE49-F238E27FC236}">
                <a16:creationId xmlns:a16="http://schemas.microsoft.com/office/drawing/2014/main" id="{92C3B258-DD53-3542-5963-78AC47290EC8}"/>
              </a:ext>
            </a:extLst>
          </p:cNvPr>
          <p:cNvSpPr/>
          <p:nvPr/>
        </p:nvSpPr>
        <p:spPr>
          <a:xfrm>
            <a:off x="4859784" y="3003798"/>
            <a:ext cx="288032" cy="283911"/>
          </a:xfrm>
          <a:prstGeom prst="star7">
            <a:avLst/>
          </a:prstGeom>
          <a:solidFill>
            <a:srgbClr val="FFC000">
              <a:alpha val="4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48104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60D9254-CF51-ABBC-6459-0FC4DC846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Elementy języka obiektowego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A91E13A-C861-C5FF-80E5-D0E9FF3E5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l-PL" altLang="pl-PL" dirty="0"/>
              <a:t>Główne elementy języka UML:</a:t>
            </a:r>
          </a:p>
          <a:p>
            <a:pPr marL="342900" indent="-160338">
              <a:buFont typeface="Arial" panose="020B0604020202020204" pitchFamily="34" charset="0"/>
              <a:buChar char="•"/>
            </a:pPr>
            <a:r>
              <a:rPr lang="pl-PL" altLang="pl-PL" dirty="0">
                <a:solidFill>
                  <a:srgbClr val="C00000"/>
                </a:solidFill>
              </a:rPr>
              <a:t>Klasa (</a:t>
            </a:r>
            <a:r>
              <a:rPr lang="pl-PL" altLang="pl-PL" i="1" dirty="0">
                <a:solidFill>
                  <a:srgbClr val="C00000"/>
                </a:solidFill>
              </a:rPr>
              <a:t>Class</a:t>
            </a:r>
            <a:r>
              <a:rPr lang="pl-PL" altLang="pl-PL" dirty="0">
                <a:solidFill>
                  <a:srgbClr val="C00000"/>
                </a:solidFill>
              </a:rPr>
              <a:t>) </a:t>
            </a:r>
          </a:p>
          <a:p>
            <a:pPr marL="342900" indent="-160338">
              <a:buFont typeface="Arial" panose="020B0604020202020204" pitchFamily="34" charset="0"/>
              <a:buChar char="•"/>
            </a:pPr>
            <a:r>
              <a:rPr lang="pl-PL" altLang="pl-PL" dirty="0">
                <a:solidFill>
                  <a:srgbClr val="C00000"/>
                </a:solidFill>
              </a:rPr>
              <a:t>Obiekt (</a:t>
            </a:r>
            <a:r>
              <a:rPr lang="pl-PL" altLang="pl-PL" i="1" dirty="0">
                <a:solidFill>
                  <a:srgbClr val="C00000"/>
                </a:solidFill>
              </a:rPr>
              <a:t>Object</a:t>
            </a:r>
            <a:r>
              <a:rPr lang="pl-PL" altLang="pl-PL" dirty="0">
                <a:solidFill>
                  <a:srgbClr val="C00000"/>
                </a:solidFill>
              </a:rPr>
              <a:t>)</a:t>
            </a:r>
          </a:p>
          <a:p>
            <a:pPr marL="342900" indent="-160338">
              <a:buFont typeface="Arial" panose="020B0604020202020204" pitchFamily="34" charset="0"/>
              <a:buChar char="•"/>
            </a:pPr>
            <a:r>
              <a:rPr lang="pl-PL" altLang="pl-PL" dirty="0">
                <a:solidFill>
                  <a:srgbClr val="C00000"/>
                </a:solidFill>
              </a:rPr>
              <a:t>Atrybut obiektu (</a:t>
            </a:r>
            <a:r>
              <a:rPr lang="pl-PL" altLang="pl-PL" i="1" dirty="0" err="1">
                <a:solidFill>
                  <a:srgbClr val="C00000"/>
                </a:solidFill>
              </a:rPr>
              <a:t>Attribute</a:t>
            </a:r>
            <a:r>
              <a:rPr lang="pl-PL" altLang="pl-PL" dirty="0">
                <a:solidFill>
                  <a:srgbClr val="C00000"/>
                </a:solidFill>
              </a:rPr>
              <a:t>)</a:t>
            </a:r>
          </a:p>
          <a:p>
            <a:pPr marL="342900" indent="-160338">
              <a:buFont typeface="Arial" panose="020B0604020202020204" pitchFamily="34" charset="0"/>
              <a:buChar char="•"/>
            </a:pPr>
            <a:r>
              <a:rPr lang="pl-PL" altLang="pl-PL" dirty="0">
                <a:solidFill>
                  <a:srgbClr val="C00000"/>
                </a:solidFill>
              </a:rPr>
              <a:t>Operacja (</a:t>
            </a:r>
            <a:r>
              <a:rPr lang="pl-PL" altLang="pl-PL" i="1" dirty="0" err="1">
                <a:solidFill>
                  <a:srgbClr val="C00000"/>
                </a:solidFill>
              </a:rPr>
              <a:t>Operation</a:t>
            </a:r>
            <a:r>
              <a:rPr lang="pl-PL" altLang="pl-PL" dirty="0">
                <a:solidFill>
                  <a:srgbClr val="C00000"/>
                </a:solidFill>
              </a:rPr>
              <a:t>)</a:t>
            </a:r>
          </a:p>
          <a:p>
            <a:pPr marL="342900" indent="-160338">
              <a:buFont typeface="Arial" panose="020B0604020202020204" pitchFamily="34" charset="0"/>
              <a:buChar char="•"/>
            </a:pPr>
            <a:r>
              <a:rPr lang="pl-PL" altLang="pl-PL" dirty="0">
                <a:solidFill>
                  <a:srgbClr val="C00000"/>
                </a:solidFill>
              </a:rPr>
              <a:t>Relacja (</a:t>
            </a:r>
            <a:r>
              <a:rPr lang="pl-PL" altLang="pl-PL" i="1" dirty="0" err="1">
                <a:solidFill>
                  <a:srgbClr val="C00000"/>
                </a:solidFill>
              </a:rPr>
              <a:t>Relationship</a:t>
            </a:r>
            <a:r>
              <a:rPr lang="pl-PL" altLang="pl-PL" i="1" dirty="0">
                <a:solidFill>
                  <a:srgbClr val="C00000"/>
                </a:solidFill>
              </a:rPr>
              <a:t>)</a:t>
            </a:r>
          </a:p>
          <a:p>
            <a:pPr marL="1076325" indent="-285750">
              <a:buFont typeface="Wingdings" panose="05000000000000000000" pitchFamily="2" charset="2"/>
              <a:buChar char="§"/>
            </a:pPr>
            <a:r>
              <a:rPr lang="pl-PL" altLang="pl-PL" dirty="0">
                <a:solidFill>
                  <a:srgbClr val="C00000"/>
                </a:solidFill>
              </a:rPr>
              <a:t>asocjacji (</a:t>
            </a:r>
            <a:r>
              <a:rPr lang="pl-PL" altLang="pl-PL" i="1" dirty="0" err="1">
                <a:solidFill>
                  <a:srgbClr val="C00000"/>
                </a:solidFill>
              </a:rPr>
              <a:t>Association</a:t>
            </a:r>
            <a:r>
              <a:rPr lang="pl-PL" altLang="pl-PL" dirty="0">
                <a:solidFill>
                  <a:srgbClr val="C00000"/>
                </a:solidFill>
              </a:rPr>
              <a:t>)</a:t>
            </a:r>
          </a:p>
          <a:p>
            <a:pPr marL="1076325" indent="-285750">
              <a:buFont typeface="Wingdings" panose="05000000000000000000" pitchFamily="2" charset="2"/>
              <a:buChar char="§"/>
            </a:pPr>
            <a:r>
              <a:rPr lang="pl-PL" altLang="pl-PL" dirty="0">
                <a:solidFill>
                  <a:srgbClr val="C00000"/>
                </a:solidFill>
              </a:rPr>
              <a:t>kompozycji (</a:t>
            </a:r>
            <a:r>
              <a:rPr lang="pl-PL" altLang="pl-PL" i="1" dirty="0" err="1">
                <a:solidFill>
                  <a:srgbClr val="C00000"/>
                </a:solidFill>
              </a:rPr>
              <a:t>Composition</a:t>
            </a:r>
            <a:r>
              <a:rPr lang="pl-PL" altLang="pl-PL" dirty="0">
                <a:solidFill>
                  <a:srgbClr val="C00000"/>
                </a:solidFill>
              </a:rPr>
              <a:t>)</a:t>
            </a:r>
          </a:p>
          <a:p>
            <a:pPr marL="1076325" indent="-285750">
              <a:buFont typeface="Wingdings" panose="05000000000000000000" pitchFamily="2" charset="2"/>
              <a:buChar char="§"/>
            </a:pPr>
            <a:r>
              <a:rPr lang="pl-PL" altLang="pl-PL" dirty="0">
                <a:solidFill>
                  <a:srgbClr val="C00000"/>
                </a:solidFill>
              </a:rPr>
              <a:t>agregacji (</a:t>
            </a:r>
            <a:r>
              <a:rPr lang="pl-PL" altLang="pl-PL" i="1" dirty="0" err="1">
                <a:solidFill>
                  <a:srgbClr val="C00000"/>
                </a:solidFill>
              </a:rPr>
              <a:t>Aggregation</a:t>
            </a:r>
            <a:r>
              <a:rPr lang="pl-PL" altLang="pl-PL" dirty="0">
                <a:solidFill>
                  <a:srgbClr val="C00000"/>
                </a:solidFill>
              </a:rPr>
              <a:t>)</a:t>
            </a:r>
          </a:p>
          <a:p>
            <a:pPr marL="1076325" indent="-285750">
              <a:buFont typeface="Wingdings" panose="05000000000000000000" pitchFamily="2" charset="2"/>
              <a:buChar char="§"/>
            </a:pPr>
            <a:r>
              <a:rPr lang="pl-PL" altLang="pl-PL" dirty="0">
                <a:solidFill>
                  <a:srgbClr val="C00000"/>
                </a:solidFill>
              </a:rPr>
              <a:t>generalizacji (</a:t>
            </a:r>
            <a:r>
              <a:rPr lang="pl-PL" altLang="pl-PL" i="1" dirty="0">
                <a:solidFill>
                  <a:srgbClr val="C00000"/>
                </a:solidFill>
              </a:rPr>
              <a:t>Generalisation</a:t>
            </a:r>
            <a:r>
              <a:rPr lang="pl-PL" altLang="pl-PL" dirty="0">
                <a:solidFill>
                  <a:srgbClr val="C00000"/>
                </a:solidFill>
              </a:rPr>
              <a:t>)</a:t>
            </a:r>
          </a:p>
          <a:p>
            <a:pPr marL="1076325" indent="-285750">
              <a:buFont typeface="Wingdings" panose="05000000000000000000" pitchFamily="2" charset="2"/>
              <a:buChar char="§"/>
            </a:pPr>
            <a:r>
              <a:rPr lang="pl-PL" altLang="pl-PL" dirty="0">
                <a:solidFill>
                  <a:srgbClr val="C00000"/>
                </a:solidFill>
              </a:rPr>
              <a:t>zależności (</a:t>
            </a:r>
            <a:r>
              <a:rPr lang="pl-PL" altLang="pl-PL" i="1" dirty="0" err="1">
                <a:solidFill>
                  <a:srgbClr val="C00000"/>
                </a:solidFill>
              </a:rPr>
              <a:t>Dependency</a:t>
            </a:r>
            <a:r>
              <a:rPr lang="pl-PL" altLang="pl-PL" dirty="0">
                <a:solidFill>
                  <a:srgbClr val="C00000"/>
                </a:solidFill>
              </a:rPr>
              <a:t>)</a:t>
            </a:r>
          </a:p>
          <a:p>
            <a:pPr marL="342900" indent="-160338">
              <a:buFont typeface="Arial" panose="020B0604020202020204" pitchFamily="34" charset="0"/>
              <a:buChar char="•"/>
            </a:pPr>
            <a:r>
              <a:rPr lang="pl-PL" altLang="pl-PL" dirty="0">
                <a:solidFill>
                  <a:srgbClr val="C00000"/>
                </a:solidFill>
              </a:rPr>
              <a:t>Pakiet (</a:t>
            </a:r>
            <a:r>
              <a:rPr lang="pl-PL" altLang="pl-PL" i="1" dirty="0" err="1">
                <a:solidFill>
                  <a:srgbClr val="C00000"/>
                </a:solidFill>
              </a:rPr>
              <a:t>Package</a:t>
            </a:r>
            <a:r>
              <a:rPr lang="pl-PL" altLang="pl-PL" dirty="0"/>
              <a:t>)</a:t>
            </a:r>
          </a:p>
          <a:p>
            <a:endParaRPr lang="pl-PL" altLang="pl-PL" dirty="0"/>
          </a:p>
          <a:p>
            <a:r>
              <a:rPr lang="pl-PL" altLang="pl-PL" dirty="0"/>
              <a:t>Elementy pomocnicze:</a:t>
            </a:r>
          </a:p>
          <a:p>
            <a:pPr marL="342900" indent="-160338">
              <a:buFont typeface="Arial" panose="020B0604020202020204" pitchFamily="34" charset="0"/>
              <a:buChar char="•"/>
            </a:pPr>
            <a:r>
              <a:rPr lang="pl-PL" altLang="pl-PL" dirty="0">
                <a:solidFill>
                  <a:srgbClr val="C00000"/>
                </a:solidFill>
              </a:rPr>
              <a:t>Komentarz (</a:t>
            </a:r>
            <a:r>
              <a:rPr lang="pl-PL" altLang="pl-PL" i="1" dirty="0" err="1">
                <a:solidFill>
                  <a:srgbClr val="C00000"/>
                </a:solidFill>
              </a:rPr>
              <a:t>Comment</a:t>
            </a:r>
            <a:r>
              <a:rPr lang="pl-PL" altLang="pl-PL" dirty="0">
                <a:solidFill>
                  <a:srgbClr val="C00000"/>
                </a:solidFill>
              </a:rPr>
              <a:t>)</a:t>
            </a:r>
          </a:p>
          <a:p>
            <a:pPr marL="342900" indent="-160338">
              <a:buFont typeface="Arial" panose="020B0604020202020204" pitchFamily="34" charset="0"/>
              <a:buChar char="•"/>
            </a:pPr>
            <a:r>
              <a:rPr lang="pl-PL" dirty="0">
                <a:solidFill>
                  <a:srgbClr val="C00000"/>
                </a:solidFill>
              </a:rPr>
              <a:t>Ograniczenie (</a:t>
            </a:r>
            <a:r>
              <a:rPr lang="pl-PL" i="1" dirty="0" err="1">
                <a:solidFill>
                  <a:srgbClr val="C00000"/>
                </a:solidFill>
              </a:rPr>
              <a:t>Constraint</a:t>
            </a:r>
            <a:r>
              <a:rPr lang="pl-PL" dirty="0">
                <a:solidFill>
                  <a:srgbClr val="C00000"/>
                </a:solidFill>
              </a:rPr>
              <a:t>)</a:t>
            </a:r>
          </a:p>
          <a:p>
            <a:pPr marL="342900" indent="-160338">
              <a:buFont typeface="Arial" panose="020B0604020202020204" pitchFamily="34" charset="0"/>
              <a:buChar char="•"/>
            </a:pPr>
            <a:r>
              <a:rPr lang="pl-PL" dirty="0">
                <a:solidFill>
                  <a:srgbClr val="C00000"/>
                </a:solidFill>
              </a:rPr>
              <a:t>Stereotyp (</a:t>
            </a:r>
            <a:r>
              <a:rPr lang="pl-PL" i="1" dirty="0" err="1">
                <a:solidFill>
                  <a:srgbClr val="C00000"/>
                </a:solidFill>
              </a:rPr>
              <a:t>Stereotype</a:t>
            </a:r>
            <a:r>
              <a:rPr lang="pl-PL" dirty="0">
                <a:solidFill>
                  <a:srgbClr val="C00000"/>
                </a:solidFill>
              </a:rPr>
              <a:t>).</a:t>
            </a:r>
            <a:endParaRPr lang="en-US" dirty="0">
              <a:solidFill>
                <a:srgbClr val="C00000"/>
              </a:solidFill>
            </a:endParaRPr>
          </a:p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88DFA4DB-D615-C8B5-9EDB-3E1273EFB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6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EC26F7E-6BFF-F8F7-14A3-E6E86DE7354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11725CE-D6A0-9B88-DA60-6098C0256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818542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83570B1-64C6-5127-3CC4-F3D1F85C5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altLang="pl-PL" dirty="0"/>
              <a:t>Relacje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4EB8AC6-C9F6-EFD6-AB6E-DB28B37FD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5696" y="483518"/>
            <a:ext cx="6984775" cy="3709007"/>
          </a:xfrm>
        </p:spPr>
        <p:txBody>
          <a:bodyPr/>
          <a:lstStyle/>
          <a:p>
            <a:pPr marL="0">
              <a:defRPr/>
            </a:pPr>
            <a:r>
              <a:rPr lang="pl-PL" altLang="pl-PL" dirty="0"/>
              <a:t>Relacja definiuje związek pomiędzy elementami modelu. Podstawowe rodzaje relacji to:</a:t>
            </a:r>
          </a:p>
          <a:p>
            <a:pPr>
              <a:defRPr/>
            </a:pPr>
            <a:endParaRPr lang="pl-PL" altLang="pl-PL" dirty="0"/>
          </a:p>
          <a:p>
            <a:pPr marL="271463" lvl="1" indent="-271463">
              <a:buFont typeface="Arial" panose="020B0604020202020204" pitchFamily="34" charset="0"/>
              <a:buChar char="•"/>
              <a:defRPr/>
            </a:pPr>
            <a:r>
              <a:rPr lang="pl-PL" altLang="pl-PL" sz="1400" dirty="0">
                <a:solidFill>
                  <a:srgbClr val="C00000"/>
                </a:solidFill>
              </a:rPr>
              <a:t>Asocjacja</a:t>
            </a:r>
            <a:r>
              <a:rPr lang="pl-PL" altLang="pl-PL" sz="1400" dirty="0"/>
              <a:t> (</a:t>
            </a:r>
            <a:r>
              <a:rPr lang="pl-PL" altLang="pl-PL" sz="1400" i="1" dirty="0"/>
              <a:t>A</a:t>
            </a:r>
            <a:r>
              <a:rPr lang="en-US" altLang="pl-PL" sz="1400" i="1" dirty="0" err="1"/>
              <a:t>ssociation</a:t>
            </a:r>
            <a:r>
              <a:rPr lang="pl-PL" altLang="pl-PL" sz="1400" dirty="0"/>
              <a:t>)</a:t>
            </a:r>
            <a:br>
              <a:rPr lang="pl-PL" altLang="pl-PL" sz="1400" dirty="0"/>
            </a:br>
            <a:endParaRPr lang="pl-PL" altLang="pl-PL" sz="1400" dirty="0"/>
          </a:p>
          <a:p>
            <a:pPr marL="271463" lvl="1" indent="-271463">
              <a:buFont typeface="Arial" panose="020B0604020202020204" pitchFamily="34" charset="0"/>
              <a:buChar char="•"/>
              <a:defRPr/>
            </a:pPr>
            <a:r>
              <a:rPr lang="pl-PL" altLang="pl-PL" sz="1400" dirty="0">
                <a:solidFill>
                  <a:srgbClr val="C00000"/>
                </a:solidFill>
              </a:rPr>
              <a:t>Uogólnienie</a:t>
            </a:r>
            <a:r>
              <a:rPr lang="pl-PL" altLang="pl-PL" sz="1400" dirty="0"/>
              <a:t> (</a:t>
            </a:r>
            <a:r>
              <a:rPr lang="pl-PL" altLang="pl-PL" sz="1400" i="1" dirty="0"/>
              <a:t>G</a:t>
            </a:r>
            <a:r>
              <a:rPr lang="en-US" altLang="pl-PL" sz="1400" i="1" dirty="0" err="1"/>
              <a:t>eneralization</a:t>
            </a:r>
            <a:r>
              <a:rPr lang="pl-PL" altLang="pl-PL" sz="1400" dirty="0"/>
              <a:t>)</a:t>
            </a:r>
            <a:br>
              <a:rPr lang="pl-PL" altLang="pl-PL" sz="1400" dirty="0"/>
            </a:br>
            <a:endParaRPr lang="pl-PL" altLang="pl-PL" sz="1400" dirty="0"/>
          </a:p>
          <a:p>
            <a:pPr marL="271463" lvl="1" indent="-271463">
              <a:buFont typeface="Arial" panose="020B0604020202020204" pitchFamily="34" charset="0"/>
              <a:buChar char="•"/>
              <a:defRPr/>
            </a:pPr>
            <a:r>
              <a:rPr lang="pl-PL" altLang="pl-PL" sz="1400" dirty="0">
                <a:solidFill>
                  <a:srgbClr val="C00000"/>
                </a:solidFill>
              </a:rPr>
              <a:t>Realizacja</a:t>
            </a:r>
            <a:r>
              <a:rPr lang="pl-PL" altLang="pl-PL" sz="1400" dirty="0"/>
              <a:t> (</a:t>
            </a:r>
            <a:r>
              <a:rPr lang="pl-PL" altLang="pl-PL" sz="1400" i="1" dirty="0"/>
              <a:t>R</a:t>
            </a:r>
            <a:r>
              <a:rPr lang="en-US" altLang="pl-PL" sz="1400" i="1" dirty="0" err="1"/>
              <a:t>ealization</a:t>
            </a:r>
            <a:r>
              <a:rPr lang="pl-PL" altLang="pl-PL" sz="1400" dirty="0"/>
              <a:t>)</a:t>
            </a:r>
            <a:br>
              <a:rPr lang="pl-PL" altLang="pl-PL" sz="1400" dirty="0"/>
            </a:br>
            <a:endParaRPr lang="pl-PL" altLang="pl-PL" sz="1400" dirty="0"/>
          </a:p>
          <a:p>
            <a:pPr marL="271463" lvl="1" indent="-271463">
              <a:buFont typeface="Arial" panose="020B0604020202020204" pitchFamily="34" charset="0"/>
              <a:buChar char="•"/>
              <a:defRPr/>
            </a:pPr>
            <a:r>
              <a:rPr lang="pl-PL" altLang="pl-PL" sz="1400" dirty="0">
                <a:solidFill>
                  <a:srgbClr val="C00000"/>
                </a:solidFill>
              </a:rPr>
              <a:t>Zależność</a:t>
            </a:r>
            <a:r>
              <a:rPr lang="pl-PL" altLang="pl-PL" sz="1400" dirty="0"/>
              <a:t> (</a:t>
            </a:r>
            <a:r>
              <a:rPr lang="pl-PL" altLang="pl-PL" sz="1400" i="1" dirty="0"/>
              <a:t>D</a:t>
            </a:r>
            <a:r>
              <a:rPr lang="en-US" altLang="pl-PL" sz="1400" i="1" dirty="0" err="1"/>
              <a:t>ependency</a:t>
            </a:r>
            <a:r>
              <a:rPr lang="pl-PL" altLang="pl-PL" sz="1400" dirty="0"/>
              <a:t>)</a:t>
            </a:r>
          </a:p>
          <a:p>
            <a:pPr marL="271463" lvl="1" indent="-271463">
              <a:buFont typeface="Arial" panose="020B0604020202020204" pitchFamily="34" charset="0"/>
              <a:buChar char="•"/>
              <a:defRPr/>
            </a:pPr>
            <a:endParaRPr lang="pl-PL" altLang="pl-PL" sz="1400" dirty="0"/>
          </a:p>
          <a:p>
            <a:pPr marL="1257300" lvl="1" indent="-288925">
              <a:buFont typeface="Courier New" panose="02070309020205020404" pitchFamily="49" charset="0"/>
              <a:buChar char="o"/>
              <a:defRPr/>
            </a:pPr>
            <a:r>
              <a:rPr lang="pl-PL" altLang="pl-PL" sz="1400" dirty="0"/>
              <a:t>«</a:t>
            </a:r>
            <a:r>
              <a:rPr lang="pl-PL" altLang="pl-PL" sz="1400" dirty="0" err="1"/>
              <a:t>trace</a:t>
            </a:r>
            <a:r>
              <a:rPr lang="pl-PL" altLang="pl-PL" sz="1400" dirty="0"/>
              <a:t>»</a:t>
            </a:r>
            <a:br>
              <a:rPr lang="pl-PL" altLang="pl-PL" sz="1400" dirty="0"/>
            </a:br>
            <a:endParaRPr lang="pl-PL" altLang="pl-PL" sz="1400" dirty="0"/>
          </a:p>
          <a:p>
            <a:pPr marL="1257300" lvl="1" indent="-288925">
              <a:buFont typeface="Courier New" panose="02070309020205020404" pitchFamily="49" charset="0"/>
              <a:buChar char="o"/>
              <a:defRPr/>
            </a:pPr>
            <a:r>
              <a:rPr lang="pl-PL" altLang="pl-PL" sz="1400" dirty="0"/>
              <a:t>«</a:t>
            </a:r>
            <a:r>
              <a:rPr lang="pl-PL" altLang="pl-PL" sz="1400" dirty="0" err="1"/>
              <a:t>extend</a:t>
            </a:r>
            <a:r>
              <a:rPr lang="pl-PL" altLang="pl-PL" sz="1400" dirty="0"/>
              <a:t>»</a:t>
            </a:r>
            <a:br>
              <a:rPr lang="pl-PL" altLang="pl-PL" sz="1400" dirty="0"/>
            </a:br>
            <a:endParaRPr lang="pl-PL" altLang="pl-PL" sz="1400" dirty="0"/>
          </a:p>
          <a:p>
            <a:pPr marL="1257300" lvl="1" indent="-288925">
              <a:buFont typeface="Courier New" panose="02070309020205020404" pitchFamily="49" charset="0"/>
              <a:buChar char="o"/>
              <a:defRPr/>
            </a:pPr>
            <a:r>
              <a:rPr lang="pl-PL" altLang="pl-PL" sz="1400" dirty="0"/>
              <a:t>«</a:t>
            </a:r>
            <a:r>
              <a:rPr lang="pl-PL" altLang="pl-PL" sz="1400" dirty="0" err="1"/>
              <a:t>include</a:t>
            </a:r>
            <a:r>
              <a:rPr lang="pl-PL" altLang="pl-PL" sz="1400" dirty="0"/>
              <a:t>»</a:t>
            </a:r>
          </a:p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036D52E-8DB9-F3D2-C9AD-36BFA858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7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48D5229-D03D-0031-4A08-AF007B6AF29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1F48CEE-4992-981C-D7DF-8BF19F6D7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  <p:sp>
        <p:nvSpPr>
          <p:cNvPr id="8" name="Line 38">
            <a:extLst>
              <a:ext uri="{FF2B5EF4-FFF2-40B4-BE49-F238E27FC236}">
                <a16:creationId xmlns:a16="http://schemas.microsoft.com/office/drawing/2014/main" id="{19ED5F7C-CB7B-9773-E837-81CC6F00F9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2638" y="1088250"/>
            <a:ext cx="215159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9" name="Group 76">
            <a:extLst>
              <a:ext uri="{FF2B5EF4-FFF2-40B4-BE49-F238E27FC236}">
                <a16:creationId xmlns:a16="http://schemas.microsoft.com/office/drawing/2014/main" id="{5E05FEEF-6BF9-C707-3CE8-31B0ECD6518D}"/>
              </a:ext>
            </a:extLst>
          </p:cNvPr>
          <p:cNvGrpSpPr>
            <a:grpSpLocks/>
          </p:cNvGrpSpPr>
          <p:nvPr/>
        </p:nvGrpSpPr>
        <p:grpSpPr bwMode="auto">
          <a:xfrm>
            <a:off x="4576589" y="3266260"/>
            <a:ext cx="2261089" cy="239713"/>
            <a:chOff x="2964" y="2737"/>
            <a:chExt cx="1239" cy="151"/>
          </a:xfrm>
        </p:grpSpPr>
        <p:sp>
          <p:nvSpPr>
            <p:cNvPr id="10" name="Line 61">
              <a:extLst>
                <a:ext uri="{FF2B5EF4-FFF2-40B4-BE49-F238E27FC236}">
                  <a16:creationId xmlns:a16="http://schemas.microsoft.com/office/drawing/2014/main" id="{AD1A2C65-A09F-8446-89F1-BCB93425DF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2807"/>
              <a:ext cx="47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62">
              <a:extLst>
                <a:ext uri="{FF2B5EF4-FFF2-40B4-BE49-F238E27FC236}">
                  <a16:creationId xmlns:a16="http://schemas.microsoft.com/office/drawing/2014/main" id="{8874C7D0-E40A-9F12-7EE3-0F81651084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7" y="2807"/>
              <a:ext cx="46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63">
              <a:extLst>
                <a:ext uri="{FF2B5EF4-FFF2-40B4-BE49-F238E27FC236}">
                  <a16:creationId xmlns:a16="http://schemas.microsoft.com/office/drawing/2014/main" id="{071B764D-EC24-ED7A-5290-9EAC3C7EC5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0" y="2807"/>
              <a:ext cx="46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64">
              <a:extLst>
                <a:ext uri="{FF2B5EF4-FFF2-40B4-BE49-F238E27FC236}">
                  <a16:creationId xmlns:a16="http://schemas.microsoft.com/office/drawing/2014/main" id="{369612B5-6F11-36F6-83E4-C3992E2505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" y="2807"/>
              <a:ext cx="46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65">
              <a:extLst>
                <a:ext uri="{FF2B5EF4-FFF2-40B4-BE49-F238E27FC236}">
                  <a16:creationId xmlns:a16="http://schemas.microsoft.com/office/drawing/2014/main" id="{E219E5FE-1858-7A2B-CB7B-32987ED9D6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2807"/>
              <a:ext cx="46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66">
              <a:extLst>
                <a:ext uri="{FF2B5EF4-FFF2-40B4-BE49-F238E27FC236}">
                  <a16:creationId xmlns:a16="http://schemas.microsoft.com/office/drawing/2014/main" id="{58F8B928-0B77-EDC9-0942-83962660D4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9" y="2807"/>
              <a:ext cx="46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67">
              <a:extLst>
                <a:ext uri="{FF2B5EF4-FFF2-40B4-BE49-F238E27FC236}">
                  <a16:creationId xmlns:a16="http://schemas.microsoft.com/office/drawing/2014/main" id="{F0BA5337-E6CB-D3BA-BA83-ABC8FE5F5A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2" y="2807"/>
              <a:ext cx="46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68">
              <a:extLst>
                <a:ext uri="{FF2B5EF4-FFF2-40B4-BE49-F238E27FC236}">
                  <a16:creationId xmlns:a16="http://schemas.microsoft.com/office/drawing/2014/main" id="{DB376917-4838-DBE3-6BD0-D9CCC53F3B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4" y="2807"/>
              <a:ext cx="47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69">
              <a:extLst>
                <a:ext uri="{FF2B5EF4-FFF2-40B4-BE49-F238E27FC236}">
                  <a16:creationId xmlns:a16="http://schemas.microsoft.com/office/drawing/2014/main" id="{A6658A7C-68C1-DDD9-8478-E7DD11AFF4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7" y="2807"/>
              <a:ext cx="47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70">
              <a:extLst>
                <a:ext uri="{FF2B5EF4-FFF2-40B4-BE49-F238E27FC236}">
                  <a16:creationId xmlns:a16="http://schemas.microsoft.com/office/drawing/2014/main" id="{C3350708-132C-C1B1-8DAB-CA8983F7C3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0" y="2807"/>
              <a:ext cx="47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71">
              <a:extLst>
                <a:ext uri="{FF2B5EF4-FFF2-40B4-BE49-F238E27FC236}">
                  <a16:creationId xmlns:a16="http://schemas.microsoft.com/office/drawing/2014/main" id="{BB01947C-77D4-F142-9756-A6D41EC48F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3" y="2807"/>
              <a:ext cx="47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72">
              <a:extLst>
                <a:ext uri="{FF2B5EF4-FFF2-40B4-BE49-F238E27FC236}">
                  <a16:creationId xmlns:a16="http://schemas.microsoft.com/office/drawing/2014/main" id="{D820964E-CD35-7B57-8E40-45C08A7DEB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6" y="2807"/>
              <a:ext cx="47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73">
              <a:extLst>
                <a:ext uri="{FF2B5EF4-FFF2-40B4-BE49-F238E27FC236}">
                  <a16:creationId xmlns:a16="http://schemas.microsoft.com/office/drawing/2014/main" id="{6F7B36FD-EB8C-B736-4574-6FA19A8B78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9" y="2807"/>
              <a:ext cx="46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4">
              <a:extLst>
                <a:ext uri="{FF2B5EF4-FFF2-40B4-BE49-F238E27FC236}">
                  <a16:creationId xmlns:a16="http://schemas.microsoft.com/office/drawing/2014/main" id="{E8406C2D-772D-A2A1-39BB-AA5899E423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2797"/>
              <a:ext cx="232" cy="91"/>
            </a:xfrm>
            <a:custGeom>
              <a:avLst/>
              <a:gdLst>
                <a:gd name="T0" fmla="*/ 2147483647 w 15"/>
                <a:gd name="T1" fmla="*/ 0 h 6"/>
                <a:gd name="T2" fmla="*/ 2147483647 w 15"/>
                <a:gd name="T3" fmla="*/ 2147483647 h 6"/>
                <a:gd name="T4" fmla="*/ 0 w 15"/>
                <a:gd name="T5" fmla="*/ 2147483647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6">
                  <a:moveTo>
                    <a:pt x="13" y="0"/>
                  </a:moveTo>
                  <a:lnTo>
                    <a:pt x="15" y="1"/>
                  </a:lnTo>
                  <a:lnTo>
                    <a:pt x="0" y="6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75">
              <a:extLst>
                <a:ext uri="{FF2B5EF4-FFF2-40B4-BE49-F238E27FC236}">
                  <a16:creationId xmlns:a16="http://schemas.microsoft.com/office/drawing/2014/main" id="{2308CD83-23D0-AF3B-D5E6-E473CBC0B9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71" y="2737"/>
              <a:ext cx="232" cy="75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97">
            <a:extLst>
              <a:ext uri="{FF2B5EF4-FFF2-40B4-BE49-F238E27FC236}">
                <a16:creationId xmlns:a16="http://schemas.microsoft.com/office/drawing/2014/main" id="{64FC819A-106F-43CA-E5D1-6C485EAD88F4}"/>
              </a:ext>
            </a:extLst>
          </p:cNvPr>
          <p:cNvGrpSpPr>
            <a:grpSpLocks/>
          </p:cNvGrpSpPr>
          <p:nvPr/>
        </p:nvGrpSpPr>
        <p:grpSpPr bwMode="auto">
          <a:xfrm>
            <a:off x="4594226" y="1390470"/>
            <a:ext cx="2235540" cy="215900"/>
            <a:chOff x="3401" y="3038"/>
            <a:chExt cx="1551" cy="170"/>
          </a:xfrm>
        </p:grpSpPr>
        <p:sp>
          <p:nvSpPr>
            <p:cNvPr id="26" name="Line 95">
              <a:extLst>
                <a:ext uri="{FF2B5EF4-FFF2-40B4-BE49-F238E27FC236}">
                  <a16:creationId xmlns:a16="http://schemas.microsoft.com/office/drawing/2014/main" id="{443730A1-D8C6-F324-D3C9-E7C62B9438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1" y="3123"/>
              <a:ext cx="1551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96">
              <a:extLst>
                <a:ext uri="{FF2B5EF4-FFF2-40B4-BE49-F238E27FC236}">
                  <a16:creationId xmlns:a16="http://schemas.microsoft.com/office/drawing/2014/main" id="{E21A9732-4F0D-25B5-1867-E9030A34D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0" y="3038"/>
              <a:ext cx="232" cy="170"/>
            </a:xfrm>
            <a:custGeom>
              <a:avLst/>
              <a:gdLst>
                <a:gd name="T0" fmla="*/ 0 w 232"/>
                <a:gd name="T1" fmla="*/ 170 h 170"/>
                <a:gd name="T2" fmla="*/ 0 w 232"/>
                <a:gd name="T3" fmla="*/ 0 h 170"/>
                <a:gd name="T4" fmla="*/ 232 w 232"/>
                <a:gd name="T5" fmla="*/ 85 h 170"/>
                <a:gd name="T6" fmla="*/ 0 w 232"/>
                <a:gd name="T7" fmla="*/ 170 h 17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2" h="170">
                  <a:moveTo>
                    <a:pt x="0" y="170"/>
                  </a:moveTo>
                  <a:lnTo>
                    <a:pt x="0" y="0"/>
                  </a:lnTo>
                  <a:lnTo>
                    <a:pt x="232" y="85"/>
                  </a:lnTo>
                  <a:lnTo>
                    <a:pt x="0" y="170"/>
                  </a:lnTo>
                  <a:close/>
                </a:path>
              </a:pathLst>
            </a:custGeom>
            <a:solidFill>
              <a:srgbClr val="FCF2E3"/>
            </a:solidFill>
            <a:ln w="238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135">
            <a:extLst>
              <a:ext uri="{FF2B5EF4-FFF2-40B4-BE49-F238E27FC236}">
                <a16:creationId xmlns:a16="http://schemas.microsoft.com/office/drawing/2014/main" id="{FF0F6BC5-2BCD-F25D-89DC-35D0857257A3}"/>
              </a:ext>
            </a:extLst>
          </p:cNvPr>
          <p:cNvGrpSpPr>
            <a:grpSpLocks/>
          </p:cNvGrpSpPr>
          <p:nvPr/>
        </p:nvGrpSpPr>
        <p:grpSpPr bwMode="auto">
          <a:xfrm>
            <a:off x="4610928" y="1844396"/>
            <a:ext cx="2237365" cy="215900"/>
            <a:chOff x="3142" y="3556"/>
            <a:chExt cx="1634" cy="167"/>
          </a:xfrm>
        </p:grpSpPr>
        <p:sp>
          <p:nvSpPr>
            <p:cNvPr id="29" name="Line 115">
              <a:extLst>
                <a:ext uri="{FF2B5EF4-FFF2-40B4-BE49-F238E27FC236}">
                  <a16:creationId xmlns:a16="http://schemas.microsoft.com/office/drawing/2014/main" id="{F797E105-8C1A-4062-1FB2-423B5CA543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2" y="3653"/>
              <a:ext cx="4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116">
              <a:extLst>
                <a:ext uri="{FF2B5EF4-FFF2-40B4-BE49-F238E27FC236}">
                  <a16:creationId xmlns:a16="http://schemas.microsoft.com/office/drawing/2014/main" id="{1093D905-410A-AF40-A5E8-AEEBCB2EDA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8" y="3653"/>
              <a:ext cx="4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117">
              <a:extLst>
                <a:ext uri="{FF2B5EF4-FFF2-40B4-BE49-F238E27FC236}">
                  <a16:creationId xmlns:a16="http://schemas.microsoft.com/office/drawing/2014/main" id="{DEAC27E9-07BF-C086-DDDA-AD995AAD65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4" y="3653"/>
              <a:ext cx="4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118">
              <a:extLst>
                <a:ext uri="{FF2B5EF4-FFF2-40B4-BE49-F238E27FC236}">
                  <a16:creationId xmlns:a16="http://schemas.microsoft.com/office/drawing/2014/main" id="{2E7B3270-D5BA-E89B-6998-72A5E6A00E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0" y="3653"/>
              <a:ext cx="4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119">
              <a:extLst>
                <a:ext uri="{FF2B5EF4-FFF2-40B4-BE49-F238E27FC236}">
                  <a16:creationId xmlns:a16="http://schemas.microsoft.com/office/drawing/2014/main" id="{DFEFAEB1-30CB-7412-1053-FA9DE44860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6" y="3653"/>
              <a:ext cx="4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120">
              <a:extLst>
                <a:ext uri="{FF2B5EF4-FFF2-40B4-BE49-F238E27FC236}">
                  <a16:creationId xmlns:a16="http://schemas.microsoft.com/office/drawing/2014/main" id="{AE0521CF-FC5E-C006-972E-CBA6BD4421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2" y="3653"/>
              <a:ext cx="4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121">
              <a:extLst>
                <a:ext uri="{FF2B5EF4-FFF2-40B4-BE49-F238E27FC236}">
                  <a16:creationId xmlns:a16="http://schemas.microsoft.com/office/drawing/2014/main" id="{F0E880C8-F590-5176-A37C-7703EB2326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8" y="3653"/>
              <a:ext cx="4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122">
              <a:extLst>
                <a:ext uri="{FF2B5EF4-FFF2-40B4-BE49-F238E27FC236}">
                  <a16:creationId xmlns:a16="http://schemas.microsoft.com/office/drawing/2014/main" id="{EAFF9F99-7E5F-D666-7C1A-C46BD0EDB0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3653"/>
              <a:ext cx="4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123">
              <a:extLst>
                <a:ext uri="{FF2B5EF4-FFF2-40B4-BE49-F238E27FC236}">
                  <a16:creationId xmlns:a16="http://schemas.microsoft.com/office/drawing/2014/main" id="{0E379E4B-128C-EE48-B0D3-B5E5346A29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0" y="3653"/>
              <a:ext cx="4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124">
              <a:extLst>
                <a:ext uri="{FF2B5EF4-FFF2-40B4-BE49-F238E27FC236}">
                  <a16:creationId xmlns:a16="http://schemas.microsoft.com/office/drawing/2014/main" id="{AE135B67-B6D1-852A-FECD-3076891706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6" y="3653"/>
              <a:ext cx="4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25">
              <a:extLst>
                <a:ext uri="{FF2B5EF4-FFF2-40B4-BE49-F238E27FC236}">
                  <a16:creationId xmlns:a16="http://schemas.microsoft.com/office/drawing/2014/main" id="{F804662B-1DE4-63CF-DB63-4AD6BC97A6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2" y="3653"/>
              <a:ext cx="4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26">
              <a:extLst>
                <a:ext uri="{FF2B5EF4-FFF2-40B4-BE49-F238E27FC236}">
                  <a16:creationId xmlns:a16="http://schemas.microsoft.com/office/drawing/2014/main" id="{380E151A-7E31-4756-710A-91AD4A1269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8" y="3653"/>
              <a:ext cx="4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127">
              <a:extLst>
                <a:ext uri="{FF2B5EF4-FFF2-40B4-BE49-F238E27FC236}">
                  <a16:creationId xmlns:a16="http://schemas.microsoft.com/office/drawing/2014/main" id="{69C6E295-84E3-7AE4-EE89-9D02B88BB7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4" y="3653"/>
              <a:ext cx="4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128">
              <a:extLst>
                <a:ext uri="{FF2B5EF4-FFF2-40B4-BE49-F238E27FC236}">
                  <a16:creationId xmlns:a16="http://schemas.microsoft.com/office/drawing/2014/main" id="{4FA63E79-FB80-4A68-1F38-43523FFCDE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0" y="3653"/>
              <a:ext cx="4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129">
              <a:extLst>
                <a:ext uri="{FF2B5EF4-FFF2-40B4-BE49-F238E27FC236}">
                  <a16:creationId xmlns:a16="http://schemas.microsoft.com/office/drawing/2014/main" id="{AB114255-34BA-C359-5773-D61754A95B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6" y="3653"/>
              <a:ext cx="4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130">
              <a:extLst>
                <a:ext uri="{FF2B5EF4-FFF2-40B4-BE49-F238E27FC236}">
                  <a16:creationId xmlns:a16="http://schemas.microsoft.com/office/drawing/2014/main" id="{A36E7E2D-B431-C902-3C54-04810C7352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2" y="3653"/>
              <a:ext cx="4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131">
              <a:extLst>
                <a:ext uri="{FF2B5EF4-FFF2-40B4-BE49-F238E27FC236}">
                  <a16:creationId xmlns:a16="http://schemas.microsoft.com/office/drawing/2014/main" id="{4B232060-63DA-1F1F-00EC-160AC86F72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8" y="3653"/>
              <a:ext cx="4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132">
              <a:extLst>
                <a:ext uri="{FF2B5EF4-FFF2-40B4-BE49-F238E27FC236}">
                  <a16:creationId xmlns:a16="http://schemas.microsoft.com/office/drawing/2014/main" id="{365F4CAA-0F8C-DB3B-4725-F9F56CC967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4" y="3653"/>
              <a:ext cx="4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133">
              <a:extLst>
                <a:ext uri="{FF2B5EF4-FFF2-40B4-BE49-F238E27FC236}">
                  <a16:creationId xmlns:a16="http://schemas.microsoft.com/office/drawing/2014/main" id="{69B16A95-1CD9-D22D-8360-89ADF35ADC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0" y="3653"/>
              <a:ext cx="4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34">
              <a:extLst>
                <a:ext uri="{FF2B5EF4-FFF2-40B4-BE49-F238E27FC236}">
                  <a16:creationId xmlns:a16="http://schemas.microsoft.com/office/drawing/2014/main" id="{1FEDBBFD-DE4A-4C50-D8C8-0C0F93551B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1" y="3556"/>
              <a:ext cx="215" cy="167"/>
            </a:xfrm>
            <a:custGeom>
              <a:avLst/>
              <a:gdLst>
                <a:gd name="T0" fmla="*/ 0 w 215"/>
                <a:gd name="T1" fmla="*/ 167 h 167"/>
                <a:gd name="T2" fmla="*/ 0 w 215"/>
                <a:gd name="T3" fmla="*/ 0 h 167"/>
                <a:gd name="T4" fmla="*/ 215 w 215"/>
                <a:gd name="T5" fmla="*/ 83 h 167"/>
                <a:gd name="T6" fmla="*/ 0 w 215"/>
                <a:gd name="T7" fmla="*/ 167 h 1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5" h="167">
                  <a:moveTo>
                    <a:pt x="0" y="167"/>
                  </a:moveTo>
                  <a:lnTo>
                    <a:pt x="0" y="0"/>
                  </a:lnTo>
                  <a:lnTo>
                    <a:pt x="215" y="83"/>
                  </a:lnTo>
                  <a:lnTo>
                    <a:pt x="0" y="167"/>
                  </a:lnTo>
                  <a:close/>
                </a:path>
              </a:pathLst>
            </a:custGeom>
            <a:solidFill>
              <a:srgbClr val="FCF2E3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76">
            <a:extLst>
              <a:ext uri="{FF2B5EF4-FFF2-40B4-BE49-F238E27FC236}">
                <a16:creationId xmlns:a16="http://schemas.microsoft.com/office/drawing/2014/main" id="{F7C1D064-CD01-B940-C954-4B3209371607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2822019"/>
            <a:ext cx="2261089" cy="239713"/>
            <a:chOff x="2964" y="2737"/>
            <a:chExt cx="1239" cy="151"/>
          </a:xfrm>
        </p:grpSpPr>
        <p:sp>
          <p:nvSpPr>
            <p:cNvPr id="50" name="Line 61">
              <a:extLst>
                <a:ext uri="{FF2B5EF4-FFF2-40B4-BE49-F238E27FC236}">
                  <a16:creationId xmlns:a16="http://schemas.microsoft.com/office/drawing/2014/main" id="{F6D5ECC3-1DC2-7CD4-6BDB-EBB73CE1D7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2807"/>
              <a:ext cx="47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Line 62">
              <a:extLst>
                <a:ext uri="{FF2B5EF4-FFF2-40B4-BE49-F238E27FC236}">
                  <a16:creationId xmlns:a16="http://schemas.microsoft.com/office/drawing/2014/main" id="{C3264AE2-322E-F5F2-CE65-8837486D60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7" y="2807"/>
              <a:ext cx="46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Line 63">
              <a:extLst>
                <a:ext uri="{FF2B5EF4-FFF2-40B4-BE49-F238E27FC236}">
                  <a16:creationId xmlns:a16="http://schemas.microsoft.com/office/drawing/2014/main" id="{AA906E86-7657-D8BB-0680-CC55A399FF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0" y="2807"/>
              <a:ext cx="46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" name="Line 64">
              <a:extLst>
                <a:ext uri="{FF2B5EF4-FFF2-40B4-BE49-F238E27FC236}">
                  <a16:creationId xmlns:a16="http://schemas.microsoft.com/office/drawing/2014/main" id="{E6144365-BA3D-A61A-85B5-FE52679C3E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" y="2807"/>
              <a:ext cx="46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Line 65">
              <a:extLst>
                <a:ext uri="{FF2B5EF4-FFF2-40B4-BE49-F238E27FC236}">
                  <a16:creationId xmlns:a16="http://schemas.microsoft.com/office/drawing/2014/main" id="{C56B1150-B97C-4016-4058-7C7660F39B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2807"/>
              <a:ext cx="46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Line 66">
              <a:extLst>
                <a:ext uri="{FF2B5EF4-FFF2-40B4-BE49-F238E27FC236}">
                  <a16:creationId xmlns:a16="http://schemas.microsoft.com/office/drawing/2014/main" id="{1FD46E30-C88C-13EA-D6A8-0CFB89A0CF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9" y="2807"/>
              <a:ext cx="46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67">
              <a:extLst>
                <a:ext uri="{FF2B5EF4-FFF2-40B4-BE49-F238E27FC236}">
                  <a16:creationId xmlns:a16="http://schemas.microsoft.com/office/drawing/2014/main" id="{E5C4E294-8075-C313-C1D6-6E841AA2C3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2" y="2807"/>
              <a:ext cx="46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68">
              <a:extLst>
                <a:ext uri="{FF2B5EF4-FFF2-40B4-BE49-F238E27FC236}">
                  <a16:creationId xmlns:a16="http://schemas.microsoft.com/office/drawing/2014/main" id="{E6BC045F-5135-C70A-8FAB-C319627BD2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4" y="2807"/>
              <a:ext cx="47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69">
              <a:extLst>
                <a:ext uri="{FF2B5EF4-FFF2-40B4-BE49-F238E27FC236}">
                  <a16:creationId xmlns:a16="http://schemas.microsoft.com/office/drawing/2014/main" id="{483756DB-B906-48A4-40C7-8117DB70B0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7" y="2807"/>
              <a:ext cx="47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Line 70">
              <a:extLst>
                <a:ext uri="{FF2B5EF4-FFF2-40B4-BE49-F238E27FC236}">
                  <a16:creationId xmlns:a16="http://schemas.microsoft.com/office/drawing/2014/main" id="{69E1C974-F1B5-EF5B-6EC4-47844D7ABB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0" y="2807"/>
              <a:ext cx="47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Line 71">
              <a:extLst>
                <a:ext uri="{FF2B5EF4-FFF2-40B4-BE49-F238E27FC236}">
                  <a16:creationId xmlns:a16="http://schemas.microsoft.com/office/drawing/2014/main" id="{EF9BE1B7-DA9B-19B9-522E-3E936C8906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3" y="2807"/>
              <a:ext cx="47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72">
              <a:extLst>
                <a:ext uri="{FF2B5EF4-FFF2-40B4-BE49-F238E27FC236}">
                  <a16:creationId xmlns:a16="http://schemas.microsoft.com/office/drawing/2014/main" id="{22213677-000F-BC9E-96BE-08C1000E66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6" y="2807"/>
              <a:ext cx="47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Line 73">
              <a:extLst>
                <a:ext uri="{FF2B5EF4-FFF2-40B4-BE49-F238E27FC236}">
                  <a16:creationId xmlns:a16="http://schemas.microsoft.com/office/drawing/2014/main" id="{5CCF878E-668C-63CB-E5F3-0BE0D08E71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9" y="2807"/>
              <a:ext cx="46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74">
              <a:extLst>
                <a:ext uri="{FF2B5EF4-FFF2-40B4-BE49-F238E27FC236}">
                  <a16:creationId xmlns:a16="http://schemas.microsoft.com/office/drawing/2014/main" id="{1D730B8C-ABBE-30A2-AA58-C4525F7E6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2797"/>
              <a:ext cx="232" cy="91"/>
            </a:xfrm>
            <a:custGeom>
              <a:avLst/>
              <a:gdLst>
                <a:gd name="T0" fmla="*/ 2147483647 w 15"/>
                <a:gd name="T1" fmla="*/ 0 h 6"/>
                <a:gd name="T2" fmla="*/ 2147483647 w 15"/>
                <a:gd name="T3" fmla="*/ 2147483647 h 6"/>
                <a:gd name="T4" fmla="*/ 0 w 15"/>
                <a:gd name="T5" fmla="*/ 2147483647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6">
                  <a:moveTo>
                    <a:pt x="13" y="0"/>
                  </a:moveTo>
                  <a:lnTo>
                    <a:pt x="15" y="1"/>
                  </a:lnTo>
                  <a:lnTo>
                    <a:pt x="0" y="6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Line 75">
              <a:extLst>
                <a:ext uri="{FF2B5EF4-FFF2-40B4-BE49-F238E27FC236}">
                  <a16:creationId xmlns:a16="http://schemas.microsoft.com/office/drawing/2014/main" id="{988B97BB-4092-B6F8-B83C-64247975A1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71" y="2737"/>
              <a:ext cx="232" cy="75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5" name="Group 76">
            <a:extLst>
              <a:ext uri="{FF2B5EF4-FFF2-40B4-BE49-F238E27FC236}">
                <a16:creationId xmlns:a16="http://schemas.microsoft.com/office/drawing/2014/main" id="{B35CD3BE-D7D3-0D2A-CF21-A73BB88DB613}"/>
              </a:ext>
            </a:extLst>
          </p:cNvPr>
          <p:cNvGrpSpPr>
            <a:grpSpLocks/>
          </p:cNvGrpSpPr>
          <p:nvPr/>
        </p:nvGrpSpPr>
        <p:grpSpPr bwMode="auto">
          <a:xfrm>
            <a:off x="4576589" y="3755722"/>
            <a:ext cx="2261089" cy="239713"/>
            <a:chOff x="2964" y="2737"/>
            <a:chExt cx="1239" cy="151"/>
          </a:xfrm>
        </p:grpSpPr>
        <p:sp>
          <p:nvSpPr>
            <p:cNvPr id="66" name="Line 61">
              <a:extLst>
                <a:ext uri="{FF2B5EF4-FFF2-40B4-BE49-F238E27FC236}">
                  <a16:creationId xmlns:a16="http://schemas.microsoft.com/office/drawing/2014/main" id="{0E23E32F-09C2-CAE0-ABDB-2554492A70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2807"/>
              <a:ext cx="47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Line 62">
              <a:extLst>
                <a:ext uri="{FF2B5EF4-FFF2-40B4-BE49-F238E27FC236}">
                  <a16:creationId xmlns:a16="http://schemas.microsoft.com/office/drawing/2014/main" id="{923EC079-E644-9EAE-2C5B-10B1B4EC15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7" y="2807"/>
              <a:ext cx="46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Line 63">
              <a:extLst>
                <a:ext uri="{FF2B5EF4-FFF2-40B4-BE49-F238E27FC236}">
                  <a16:creationId xmlns:a16="http://schemas.microsoft.com/office/drawing/2014/main" id="{F3058AC6-2B4A-3FDE-C8C5-043397B511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0" y="2807"/>
              <a:ext cx="46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Line 64">
              <a:extLst>
                <a:ext uri="{FF2B5EF4-FFF2-40B4-BE49-F238E27FC236}">
                  <a16:creationId xmlns:a16="http://schemas.microsoft.com/office/drawing/2014/main" id="{F0E6E81B-7E0A-729B-9395-49E54D1F27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" y="2807"/>
              <a:ext cx="46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Line 65">
              <a:extLst>
                <a:ext uri="{FF2B5EF4-FFF2-40B4-BE49-F238E27FC236}">
                  <a16:creationId xmlns:a16="http://schemas.microsoft.com/office/drawing/2014/main" id="{43589EA0-AA08-7E1B-76E0-970B7BAEA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2807"/>
              <a:ext cx="46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Line 66">
              <a:extLst>
                <a:ext uri="{FF2B5EF4-FFF2-40B4-BE49-F238E27FC236}">
                  <a16:creationId xmlns:a16="http://schemas.microsoft.com/office/drawing/2014/main" id="{B1A9CB77-AE03-7EF0-20AA-28559F6590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9" y="2807"/>
              <a:ext cx="46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Line 67">
              <a:extLst>
                <a:ext uri="{FF2B5EF4-FFF2-40B4-BE49-F238E27FC236}">
                  <a16:creationId xmlns:a16="http://schemas.microsoft.com/office/drawing/2014/main" id="{541994E6-5C8A-9957-4F81-9E5A0283A2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2" y="2807"/>
              <a:ext cx="46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Line 68">
              <a:extLst>
                <a:ext uri="{FF2B5EF4-FFF2-40B4-BE49-F238E27FC236}">
                  <a16:creationId xmlns:a16="http://schemas.microsoft.com/office/drawing/2014/main" id="{C2E18941-EE8A-3A8E-CE40-C2EC30BA99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4" y="2807"/>
              <a:ext cx="47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Line 69">
              <a:extLst>
                <a:ext uri="{FF2B5EF4-FFF2-40B4-BE49-F238E27FC236}">
                  <a16:creationId xmlns:a16="http://schemas.microsoft.com/office/drawing/2014/main" id="{A1264D9D-D852-4EE7-ACDB-22A20DD8E3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7" y="2807"/>
              <a:ext cx="47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Line 70">
              <a:extLst>
                <a:ext uri="{FF2B5EF4-FFF2-40B4-BE49-F238E27FC236}">
                  <a16:creationId xmlns:a16="http://schemas.microsoft.com/office/drawing/2014/main" id="{6CE909F0-AAA5-41B3-ED6D-AFB74AC083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0" y="2807"/>
              <a:ext cx="47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Line 71">
              <a:extLst>
                <a:ext uri="{FF2B5EF4-FFF2-40B4-BE49-F238E27FC236}">
                  <a16:creationId xmlns:a16="http://schemas.microsoft.com/office/drawing/2014/main" id="{3AEE966F-68D1-38D9-0109-8C02EDBC6B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3" y="2807"/>
              <a:ext cx="47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Line 72">
              <a:extLst>
                <a:ext uri="{FF2B5EF4-FFF2-40B4-BE49-F238E27FC236}">
                  <a16:creationId xmlns:a16="http://schemas.microsoft.com/office/drawing/2014/main" id="{291A2136-024B-C81D-74BF-5BB637A470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6" y="2807"/>
              <a:ext cx="47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Line 73">
              <a:extLst>
                <a:ext uri="{FF2B5EF4-FFF2-40B4-BE49-F238E27FC236}">
                  <a16:creationId xmlns:a16="http://schemas.microsoft.com/office/drawing/2014/main" id="{AB2013ED-9A61-89B1-E52C-867B7E70F0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9" y="2807"/>
              <a:ext cx="46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74">
              <a:extLst>
                <a:ext uri="{FF2B5EF4-FFF2-40B4-BE49-F238E27FC236}">
                  <a16:creationId xmlns:a16="http://schemas.microsoft.com/office/drawing/2014/main" id="{E1DCF714-C7CA-3321-E605-D01930BA8B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2797"/>
              <a:ext cx="232" cy="91"/>
            </a:xfrm>
            <a:custGeom>
              <a:avLst/>
              <a:gdLst>
                <a:gd name="T0" fmla="*/ 2147483647 w 15"/>
                <a:gd name="T1" fmla="*/ 0 h 6"/>
                <a:gd name="T2" fmla="*/ 2147483647 w 15"/>
                <a:gd name="T3" fmla="*/ 2147483647 h 6"/>
                <a:gd name="T4" fmla="*/ 0 w 15"/>
                <a:gd name="T5" fmla="*/ 2147483647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6">
                  <a:moveTo>
                    <a:pt x="13" y="0"/>
                  </a:moveTo>
                  <a:lnTo>
                    <a:pt x="15" y="1"/>
                  </a:lnTo>
                  <a:lnTo>
                    <a:pt x="0" y="6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75">
              <a:extLst>
                <a:ext uri="{FF2B5EF4-FFF2-40B4-BE49-F238E27FC236}">
                  <a16:creationId xmlns:a16="http://schemas.microsoft.com/office/drawing/2014/main" id="{B03C0346-7CC8-EC92-31CF-E64018890A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71" y="2737"/>
              <a:ext cx="232" cy="75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1" name="pole tekstowe 80">
            <a:extLst>
              <a:ext uri="{FF2B5EF4-FFF2-40B4-BE49-F238E27FC236}">
                <a16:creationId xmlns:a16="http://schemas.microsoft.com/office/drawing/2014/main" id="{54788A89-E2E7-5534-856B-F134BC6CB678}"/>
              </a:ext>
            </a:extLst>
          </p:cNvPr>
          <p:cNvSpPr txBox="1"/>
          <p:nvPr/>
        </p:nvSpPr>
        <p:spPr>
          <a:xfrm>
            <a:off x="4880297" y="2571750"/>
            <a:ext cx="8493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</a:rPr>
              <a:t>«</a:t>
            </a:r>
            <a:r>
              <a:rPr lang="pl-PL" sz="1400" dirty="0" err="1">
                <a:latin typeface="+mj-lt"/>
              </a:rPr>
              <a:t>trace</a:t>
            </a:r>
            <a:r>
              <a:rPr lang="en-US" sz="1400" dirty="0">
                <a:latin typeface="+mj-lt"/>
              </a:rPr>
              <a:t>»</a:t>
            </a:r>
          </a:p>
        </p:txBody>
      </p:sp>
      <p:sp>
        <p:nvSpPr>
          <p:cNvPr id="82" name="pole tekstowe 81">
            <a:extLst>
              <a:ext uri="{FF2B5EF4-FFF2-40B4-BE49-F238E27FC236}">
                <a16:creationId xmlns:a16="http://schemas.microsoft.com/office/drawing/2014/main" id="{42CA6078-B9EE-3E78-F992-C5786B2DEC02}"/>
              </a:ext>
            </a:extLst>
          </p:cNvPr>
          <p:cNvSpPr txBox="1"/>
          <p:nvPr/>
        </p:nvSpPr>
        <p:spPr>
          <a:xfrm>
            <a:off x="4939274" y="3520047"/>
            <a:ext cx="1034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</a:rPr>
              <a:t>«</a:t>
            </a:r>
            <a:r>
              <a:rPr lang="pl-PL" sz="1400" dirty="0" err="1">
                <a:latin typeface="+mj-lt"/>
              </a:rPr>
              <a:t>include</a:t>
            </a:r>
            <a:r>
              <a:rPr lang="en-US" sz="1400" dirty="0">
                <a:latin typeface="+mj-lt"/>
              </a:rPr>
              <a:t>»</a:t>
            </a:r>
          </a:p>
        </p:txBody>
      </p:sp>
      <p:sp>
        <p:nvSpPr>
          <p:cNvPr id="83" name="pole tekstowe 82">
            <a:extLst>
              <a:ext uri="{FF2B5EF4-FFF2-40B4-BE49-F238E27FC236}">
                <a16:creationId xmlns:a16="http://schemas.microsoft.com/office/drawing/2014/main" id="{6CABDD7F-7949-56DD-E9DC-B3F97B3178D0}"/>
              </a:ext>
            </a:extLst>
          </p:cNvPr>
          <p:cNvSpPr txBox="1"/>
          <p:nvPr/>
        </p:nvSpPr>
        <p:spPr>
          <a:xfrm>
            <a:off x="4932261" y="3015991"/>
            <a:ext cx="10017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</a:rPr>
              <a:t>«</a:t>
            </a:r>
            <a:r>
              <a:rPr lang="pl-PL" sz="1400" dirty="0" err="1">
                <a:latin typeface="+mj-lt"/>
              </a:rPr>
              <a:t>extend</a:t>
            </a:r>
            <a:r>
              <a:rPr lang="en-US" sz="1400" dirty="0">
                <a:latin typeface="+mj-lt"/>
              </a:rPr>
              <a:t>»</a:t>
            </a:r>
          </a:p>
        </p:txBody>
      </p:sp>
      <p:grpSp>
        <p:nvGrpSpPr>
          <p:cNvPr id="7" name="Group 76">
            <a:extLst>
              <a:ext uri="{FF2B5EF4-FFF2-40B4-BE49-F238E27FC236}">
                <a16:creationId xmlns:a16="http://schemas.microsoft.com/office/drawing/2014/main" id="{D769142E-3C12-CC49-94A3-B356D2E6DD8E}"/>
              </a:ext>
            </a:extLst>
          </p:cNvPr>
          <p:cNvGrpSpPr>
            <a:grpSpLocks/>
          </p:cNvGrpSpPr>
          <p:nvPr/>
        </p:nvGrpSpPr>
        <p:grpSpPr bwMode="auto">
          <a:xfrm>
            <a:off x="4543159" y="2332037"/>
            <a:ext cx="2261089" cy="239713"/>
            <a:chOff x="2964" y="2737"/>
            <a:chExt cx="1239" cy="151"/>
          </a:xfrm>
        </p:grpSpPr>
        <p:sp>
          <p:nvSpPr>
            <p:cNvPr id="84" name="Line 61">
              <a:extLst>
                <a:ext uri="{FF2B5EF4-FFF2-40B4-BE49-F238E27FC236}">
                  <a16:creationId xmlns:a16="http://schemas.microsoft.com/office/drawing/2014/main" id="{C6D2E166-A61A-50A0-6496-EC57C442AF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2807"/>
              <a:ext cx="47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Line 62">
              <a:extLst>
                <a:ext uri="{FF2B5EF4-FFF2-40B4-BE49-F238E27FC236}">
                  <a16:creationId xmlns:a16="http://schemas.microsoft.com/office/drawing/2014/main" id="{8FCF8805-6CE3-6141-95D7-0E0AC370F6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7" y="2807"/>
              <a:ext cx="46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Line 63">
              <a:extLst>
                <a:ext uri="{FF2B5EF4-FFF2-40B4-BE49-F238E27FC236}">
                  <a16:creationId xmlns:a16="http://schemas.microsoft.com/office/drawing/2014/main" id="{448E746B-CA49-D09C-C1B8-41870A1544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0" y="2807"/>
              <a:ext cx="46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" name="Line 64">
              <a:extLst>
                <a:ext uri="{FF2B5EF4-FFF2-40B4-BE49-F238E27FC236}">
                  <a16:creationId xmlns:a16="http://schemas.microsoft.com/office/drawing/2014/main" id="{743A8B46-0CAC-AC1C-C657-B27A094F2A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" y="2807"/>
              <a:ext cx="46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Line 65">
              <a:extLst>
                <a:ext uri="{FF2B5EF4-FFF2-40B4-BE49-F238E27FC236}">
                  <a16:creationId xmlns:a16="http://schemas.microsoft.com/office/drawing/2014/main" id="{A698059B-F839-7E64-FF6D-C6163E37AA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2807"/>
              <a:ext cx="46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Line 66">
              <a:extLst>
                <a:ext uri="{FF2B5EF4-FFF2-40B4-BE49-F238E27FC236}">
                  <a16:creationId xmlns:a16="http://schemas.microsoft.com/office/drawing/2014/main" id="{825F6BE7-CC32-A576-1DC9-DA27A41AD6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9" y="2807"/>
              <a:ext cx="46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Line 67">
              <a:extLst>
                <a:ext uri="{FF2B5EF4-FFF2-40B4-BE49-F238E27FC236}">
                  <a16:creationId xmlns:a16="http://schemas.microsoft.com/office/drawing/2014/main" id="{86D0A22C-63AE-C460-7CDE-D29B666AB0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2" y="2807"/>
              <a:ext cx="46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Line 68">
              <a:extLst>
                <a:ext uri="{FF2B5EF4-FFF2-40B4-BE49-F238E27FC236}">
                  <a16:creationId xmlns:a16="http://schemas.microsoft.com/office/drawing/2014/main" id="{CCBD7077-6B6C-EC69-93B0-0B4ECC9177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4" y="2807"/>
              <a:ext cx="47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Line 69">
              <a:extLst>
                <a:ext uri="{FF2B5EF4-FFF2-40B4-BE49-F238E27FC236}">
                  <a16:creationId xmlns:a16="http://schemas.microsoft.com/office/drawing/2014/main" id="{505A93E1-70C0-468D-8B03-EEF95CD5C3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7" y="2807"/>
              <a:ext cx="47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Line 70">
              <a:extLst>
                <a:ext uri="{FF2B5EF4-FFF2-40B4-BE49-F238E27FC236}">
                  <a16:creationId xmlns:a16="http://schemas.microsoft.com/office/drawing/2014/main" id="{6FB23DBF-AC28-3342-7651-C6B383D25D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0" y="2807"/>
              <a:ext cx="47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Line 71">
              <a:extLst>
                <a:ext uri="{FF2B5EF4-FFF2-40B4-BE49-F238E27FC236}">
                  <a16:creationId xmlns:a16="http://schemas.microsoft.com/office/drawing/2014/main" id="{92DD3290-7585-774E-48B7-E9E7A872BD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3" y="2807"/>
              <a:ext cx="47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Line 72">
              <a:extLst>
                <a:ext uri="{FF2B5EF4-FFF2-40B4-BE49-F238E27FC236}">
                  <a16:creationId xmlns:a16="http://schemas.microsoft.com/office/drawing/2014/main" id="{3ED2FA00-4066-1ACA-463B-C72CE550CA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6" y="2807"/>
              <a:ext cx="47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Line 73">
              <a:extLst>
                <a:ext uri="{FF2B5EF4-FFF2-40B4-BE49-F238E27FC236}">
                  <a16:creationId xmlns:a16="http://schemas.microsoft.com/office/drawing/2014/main" id="{4EBB9601-7534-1334-8BFD-FDB5C75164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9" y="2807"/>
              <a:ext cx="46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74">
              <a:extLst>
                <a:ext uri="{FF2B5EF4-FFF2-40B4-BE49-F238E27FC236}">
                  <a16:creationId xmlns:a16="http://schemas.microsoft.com/office/drawing/2014/main" id="{FB33B346-7600-2DFC-3EC3-336F285CE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2797"/>
              <a:ext cx="232" cy="91"/>
            </a:xfrm>
            <a:custGeom>
              <a:avLst/>
              <a:gdLst>
                <a:gd name="T0" fmla="*/ 2147483647 w 15"/>
                <a:gd name="T1" fmla="*/ 0 h 6"/>
                <a:gd name="T2" fmla="*/ 2147483647 w 15"/>
                <a:gd name="T3" fmla="*/ 2147483647 h 6"/>
                <a:gd name="T4" fmla="*/ 0 w 15"/>
                <a:gd name="T5" fmla="*/ 2147483647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6">
                  <a:moveTo>
                    <a:pt x="13" y="0"/>
                  </a:moveTo>
                  <a:lnTo>
                    <a:pt x="15" y="1"/>
                  </a:lnTo>
                  <a:lnTo>
                    <a:pt x="0" y="6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Line 75">
              <a:extLst>
                <a:ext uri="{FF2B5EF4-FFF2-40B4-BE49-F238E27FC236}">
                  <a16:creationId xmlns:a16="http://schemas.microsoft.com/office/drawing/2014/main" id="{71D514E9-3C6D-9DEC-EEE6-A3C1371EA8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71" y="2737"/>
              <a:ext cx="232" cy="75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46260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9DD456D-E693-818A-AB9E-F5CE49F9A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altLang="pl-PL" dirty="0"/>
              <a:t>Rodzaje diagramów w języku UML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BF8A085-88BC-8F50-37DA-28468B1DE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6546" y="806959"/>
            <a:ext cx="5797550" cy="3709007"/>
          </a:xfrm>
        </p:spPr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9C7B09F-F368-4653-FB7D-01FFB81A5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37149" y="4479600"/>
            <a:ext cx="866651" cy="144016"/>
          </a:xfrm>
        </p:spPr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8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A8C4686-BE5D-0A97-7E82-772EA557B8A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7A221705-6C98-2796-68A7-84AFC0593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9000" y="4479600"/>
            <a:ext cx="1836936" cy="144016"/>
          </a:xfrm>
        </p:spPr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B6D00C1-39E9-2E22-D902-5C8E3086A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289" y="789264"/>
            <a:ext cx="7598047" cy="3726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" name="Gwiazda: 7 punktów 40">
            <a:extLst>
              <a:ext uri="{FF2B5EF4-FFF2-40B4-BE49-F238E27FC236}">
                <a16:creationId xmlns:a16="http://schemas.microsoft.com/office/drawing/2014/main" id="{CBECB721-D935-4CCA-B86B-581E329A93CF}"/>
              </a:ext>
            </a:extLst>
          </p:cNvPr>
          <p:cNvSpPr/>
          <p:nvPr/>
        </p:nvSpPr>
        <p:spPr>
          <a:xfrm>
            <a:off x="1877166" y="2387568"/>
            <a:ext cx="288032" cy="283911"/>
          </a:xfrm>
          <a:prstGeom prst="star7">
            <a:avLst/>
          </a:prstGeom>
          <a:solidFill>
            <a:srgbClr val="FFC000">
              <a:alpha val="4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Gwiazda: 7 punktów 6">
            <a:extLst>
              <a:ext uri="{FF2B5EF4-FFF2-40B4-BE49-F238E27FC236}">
                <a16:creationId xmlns:a16="http://schemas.microsoft.com/office/drawing/2014/main" id="{23069CF6-B540-EB70-8DAD-A33B1F238271}"/>
              </a:ext>
            </a:extLst>
          </p:cNvPr>
          <p:cNvSpPr/>
          <p:nvPr/>
        </p:nvSpPr>
        <p:spPr>
          <a:xfrm>
            <a:off x="5652120" y="3651870"/>
            <a:ext cx="288032" cy="283911"/>
          </a:xfrm>
          <a:prstGeom prst="star7">
            <a:avLst/>
          </a:prstGeom>
          <a:solidFill>
            <a:srgbClr val="FFC000">
              <a:alpha val="4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Gwiazda: 7 punktów 8">
            <a:extLst>
              <a:ext uri="{FF2B5EF4-FFF2-40B4-BE49-F238E27FC236}">
                <a16:creationId xmlns:a16="http://schemas.microsoft.com/office/drawing/2014/main" id="{A913400C-2265-65C0-B924-01242644EE8F}"/>
              </a:ext>
            </a:extLst>
          </p:cNvPr>
          <p:cNvSpPr/>
          <p:nvPr/>
        </p:nvSpPr>
        <p:spPr>
          <a:xfrm flipH="1">
            <a:off x="4932040" y="3003798"/>
            <a:ext cx="288032" cy="283911"/>
          </a:xfrm>
          <a:prstGeom prst="star7">
            <a:avLst/>
          </a:prstGeom>
          <a:solidFill>
            <a:srgbClr val="FFC000">
              <a:alpha val="4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22308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7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D8D1B85-31CF-A738-C98A-E6AC1CD03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Klasy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9A59692-BA79-0746-0A63-DDECAE9AF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7788" y="565742"/>
            <a:ext cx="7030676" cy="3709007"/>
          </a:xfrm>
        </p:spPr>
        <p:txBody>
          <a:bodyPr/>
          <a:lstStyle/>
          <a:p>
            <a:r>
              <a:rPr lang="pl-PL" dirty="0"/>
              <a:t>Diagramy klas wyrażają w modelowanej organizacji lub dziedzinie: </a:t>
            </a:r>
          </a:p>
          <a:p>
            <a:endParaRPr lang="pl-PL" dirty="0"/>
          </a:p>
          <a:p>
            <a:pPr marL="290512" indent="-285750">
              <a:buFont typeface="Arial" panose="020B0604020202020204" pitchFamily="34" charset="0"/>
              <a:buChar char="•"/>
            </a:pPr>
            <a:r>
              <a:rPr lang="pl-PL" dirty="0">
                <a:solidFill>
                  <a:srgbClr val="C00000"/>
                </a:solidFill>
              </a:rPr>
              <a:t>obiekty biznesowe </a:t>
            </a:r>
            <a:r>
              <a:rPr lang="pl-PL" dirty="0"/>
              <a:t>– najważniejsze </a:t>
            </a:r>
            <a:r>
              <a:rPr lang="pl-PL" u="sng" dirty="0"/>
              <a:t>pojęcia</a:t>
            </a:r>
            <a:r>
              <a:rPr lang="pl-PL" dirty="0"/>
              <a:t> i </a:t>
            </a:r>
            <a:r>
              <a:rPr lang="pl-PL" u="sng" dirty="0"/>
              <a:t>struktury</a:t>
            </a:r>
            <a:r>
              <a:rPr lang="pl-PL" dirty="0"/>
              <a:t>, wspólne dla wszystkich</a:t>
            </a:r>
          </a:p>
          <a:p>
            <a:pPr marL="290512" indent="-285750">
              <a:buFont typeface="Arial" panose="020B0604020202020204" pitchFamily="34" charset="0"/>
              <a:buChar char="•"/>
            </a:pPr>
            <a:r>
              <a:rPr lang="pl-PL" dirty="0">
                <a:solidFill>
                  <a:srgbClr val="C00000"/>
                </a:solidFill>
              </a:rPr>
              <a:t>obiekty używane przez pracowników</a:t>
            </a:r>
            <a:r>
              <a:rPr lang="pl-PL" dirty="0"/>
              <a:t>, np. dokumenty, rejestry</a:t>
            </a:r>
          </a:p>
          <a:p>
            <a:pPr marL="290512" indent="-285750">
              <a:buFont typeface="Arial" panose="020B0604020202020204" pitchFamily="34" charset="0"/>
              <a:buChar char="•"/>
            </a:pPr>
            <a:r>
              <a:rPr lang="pl-PL" dirty="0">
                <a:solidFill>
                  <a:srgbClr val="C00000"/>
                </a:solidFill>
              </a:rPr>
              <a:t>strukturę bazy danych</a:t>
            </a:r>
          </a:p>
          <a:p>
            <a:pPr marL="290512" indent="-285750">
              <a:buFont typeface="Arial" panose="020B0604020202020204" pitchFamily="34" charset="0"/>
              <a:buChar char="•"/>
            </a:pPr>
            <a:r>
              <a:rPr lang="pl-PL" dirty="0">
                <a:solidFill>
                  <a:srgbClr val="C00000"/>
                </a:solidFill>
              </a:rPr>
              <a:t>relacje </a:t>
            </a:r>
            <a:r>
              <a:rPr lang="pl-PL" dirty="0"/>
              <a:t>pomiędzy powyższymi elementami.</a:t>
            </a:r>
          </a:p>
          <a:p>
            <a:endParaRPr lang="pl-PL" dirty="0"/>
          </a:p>
          <a:p>
            <a:r>
              <a:rPr lang="pl-PL" dirty="0">
                <a:solidFill>
                  <a:srgbClr val="00B050"/>
                </a:solidFill>
              </a:rPr>
              <a:t>Klasa (</a:t>
            </a:r>
            <a:r>
              <a:rPr lang="pl-PL" i="1" dirty="0" err="1">
                <a:solidFill>
                  <a:srgbClr val="00B050"/>
                </a:solidFill>
              </a:rPr>
              <a:t>class</a:t>
            </a:r>
            <a:r>
              <a:rPr lang="pl-PL" dirty="0">
                <a:solidFill>
                  <a:srgbClr val="00B050"/>
                </a:solidFill>
              </a:rPr>
              <a:t>) </a:t>
            </a:r>
            <a:r>
              <a:rPr lang="pl-PL" dirty="0"/>
              <a:t>= element definiujący obiekty (swoje instancje) mające te same cechy. </a:t>
            </a:r>
          </a:p>
          <a:p>
            <a:r>
              <a:rPr lang="pl-PL" dirty="0"/>
              <a:t>Klasa może też być uważana intuicyjnie za zbiór swoich obiektów (już istniejących lub przyszłych)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AD26C2A-74C2-3C64-6307-0E2691B82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 dirty="0"/>
              <a:t>strona </a:t>
            </a:r>
            <a:fld id="{D1E8C041-FAE8-4DC5-8211-C4895345858D}" type="slidenum">
              <a:rPr lang="pl-PL" smtClean="0"/>
              <a:pPr/>
              <a:t>9</a:t>
            </a:fld>
            <a:endParaRPr lang="pl-PL" dirty="0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A61F42B-C698-3D5D-862C-60FF6132353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1B62034-D54E-DA25-5B65-5EE9F59D1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5609358D-66B8-74BA-0928-5722BC582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5182" y="2909395"/>
            <a:ext cx="1733550" cy="1362075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128547C2-D91C-D27F-43E5-8D8352E20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7788" y="3198473"/>
            <a:ext cx="1790700" cy="790575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22301E8B-BEC8-ABB1-8930-E02649ADA5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2120" y="2787774"/>
            <a:ext cx="1990725" cy="1762125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676F3B74-BCCA-132D-781A-D38BE06FE3CC}"/>
              </a:ext>
            </a:extLst>
          </p:cNvPr>
          <p:cNvSpPr txBox="1"/>
          <p:nvPr/>
        </p:nvSpPr>
        <p:spPr>
          <a:xfrm>
            <a:off x="2395361" y="4117581"/>
            <a:ext cx="8855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l-PL" altLang="pl-PL" sz="1400" dirty="0">
                <a:solidFill>
                  <a:srgbClr val="00B050"/>
                </a:solidFill>
                <a:latin typeface="+mj-lt"/>
              </a:rPr>
              <a:t>Atrybuty</a:t>
            </a:r>
          </a:p>
        </p:txBody>
      </p: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A89E22A1-ECED-6E65-A55A-459A2678FB61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3280882" y="3775689"/>
            <a:ext cx="541814" cy="49578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E59DAA07-1CBC-BD25-59F8-04793D3011E5}"/>
              </a:ext>
            </a:extLst>
          </p:cNvPr>
          <p:cNvSpPr txBox="1"/>
          <p:nvPr/>
        </p:nvSpPr>
        <p:spPr>
          <a:xfrm>
            <a:off x="4368801" y="4269981"/>
            <a:ext cx="8855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pl-PL" altLang="pl-PL" sz="1400" dirty="0">
                <a:solidFill>
                  <a:srgbClr val="00B050"/>
                </a:solidFill>
                <a:latin typeface="+mj-lt"/>
              </a:rPr>
              <a:t>Operacje</a:t>
            </a:r>
          </a:p>
        </p:txBody>
      </p:sp>
      <p:cxnSp>
        <p:nvCxnSpPr>
          <p:cNvPr id="17" name="Łącznik prosty ze strzałką 16">
            <a:extLst>
              <a:ext uri="{FF2B5EF4-FFF2-40B4-BE49-F238E27FC236}">
                <a16:creationId xmlns:a16="http://schemas.microsoft.com/office/drawing/2014/main" id="{7D480E60-C85D-09DF-6783-54CB717044DA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5254322" y="4260266"/>
            <a:ext cx="625404" cy="16360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8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69A4FD-3399-5388-FF5C-CB9F9E7B1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Notacja klasy i jej obiektu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1B42638-3605-FFEE-90E7-89777D0C7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10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EE16FA9-A7A0-453E-6D29-5C66848C20A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0A6A17A-931E-4A1D-185F-2082BAB1F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  <p:pic>
        <p:nvPicPr>
          <p:cNvPr id="39" name="Obraz 38">
            <a:extLst>
              <a:ext uri="{FF2B5EF4-FFF2-40B4-BE49-F238E27FC236}">
                <a16:creationId xmlns:a16="http://schemas.microsoft.com/office/drawing/2014/main" id="{EAF5B687-7143-AC43-1CAE-9328807DB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36" y="1131590"/>
            <a:ext cx="7940764" cy="2145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00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BC4718B-C911-1B52-D45D-A92CB26AD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Przykłady klas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D2A82BA-ECC1-AC88-7D10-EF924791B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11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08CB2AE-BEE8-B1A2-27AF-308740CCBD2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4E44ECC-D6EF-4D04-877C-3BFA07183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77ED0F3C-9A15-262D-F0B5-581A3BE08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457890"/>
            <a:ext cx="5184576" cy="422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102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42238F1-6FC8-9A3C-19FC-951D11731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Asocjacja – relacja pomiędzy instancjami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1B90C9D-9A50-A1ED-4F28-DFCFE640C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616" y="717246"/>
            <a:ext cx="2263778" cy="3709007"/>
          </a:xfrm>
        </p:spPr>
        <p:txBody>
          <a:bodyPr>
            <a:normAutofit lnSpcReduction="10000"/>
          </a:bodyPr>
          <a:lstStyle/>
          <a:p>
            <a:r>
              <a:rPr lang="pl-PL" b="1" dirty="0"/>
              <a:t>Asocjacja: </a:t>
            </a:r>
          </a:p>
          <a:p>
            <a:pPr marL="290512" indent="-285750">
              <a:buFont typeface="Arial" panose="020B0604020202020204" pitchFamily="34" charset="0"/>
              <a:buChar char="•"/>
            </a:pPr>
            <a:r>
              <a:rPr lang="pl-PL" dirty="0">
                <a:solidFill>
                  <a:srgbClr val="C00000"/>
                </a:solidFill>
              </a:rPr>
              <a:t>musi mieć krotności</a:t>
            </a:r>
            <a:r>
              <a:rPr lang="pl-PL" dirty="0"/>
              <a:t> </a:t>
            </a:r>
            <a:br>
              <a:rPr lang="pl-PL" dirty="0"/>
            </a:br>
            <a:r>
              <a:rPr lang="pl-PL" dirty="0"/>
              <a:t>na obu końcach </a:t>
            </a:r>
          </a:p>
          <a:p>
            <a:pPr marL="290512" indent="-285750">
              <a:buFont typeface="Arial" panose="020B0604020202020204" pitchFamily="34" charset="0"/>
              <a:buChar char="•"/>
            </a:pPr>
            <a:r>
              <a:rPr lang="pl-PL" dirty="0">
                <a:solidFill>
                  <a:srgbClr val="C00000"/>
                </a:solidFill>
              </a:rPr>
              <a:t>może mieć nazwę </a:t>
            </a:r>
          </a:p>
          <a:p>
            <a:pPr marL="290512" indent="-285750">
              <a:buFont typeface="Arial" panose="020B0604020202020204" pitchFamily="34" charset="0"/>
              <a:buChar char="•"/>
            </a:pPr>
            <a:r>
              <a:rPr lang="pl-PL" dirty="0">
                <a:solidFill>
                  <a:srgbClr val="C00000"/>
                </a:solidFill>
              </a:rPr>
              <a:t>może mieć  role </a:t>
            </a:r>
            <a:br>
              <a:rPr lang="pl-PL" dirty="0">
                <a:solidFill>
                  <a:srgbClr val="C00000"/>
                </a:solidFill>
              </a:rPr>
            </a:br>
            <a:r>
              <a:rPr lang="pl-PL" dirty="0"/>
              <a:t>na obu końcach.</a:t>
            </a:r>
          </a:p>
          <a:p>
            <a:endParaRPr lang="pl-PL" dirty="0"/>
          </a:p>
          <a:p>
            <a:r>
              <a:rPr lang="pl-PL" b="1" dirty="0"/>
              <a:t>Typowe krotności:</a:t>
            </a:r>
          </a:p>
          <a:p>
            <a:r>
              <a:rPr lang="pl-PL" dirty="0"/>
              <a:t>0 .. 1</a:t>
            </a:r>
          </a:p>
          <a:p>
            <a:r>
              <a:rPr lang="pl-PL" dirty="0"/>
              <a:t>0 .. *   (w skrócie *)</a:t>
            </a:r>
          </a:p>
          <a:p>
            <a:r>
              <a:rPr lang="pl-PL" dirty="0"/>
              <a:t>1 .. 1   (w skrócie 1)</a:t>
            </a:r>
          </a:p>
          <a:p>
            <a:r>
              <a:rPr lang="pl-PL" dirty="0"/>
              <a:t>1 .. *</a:t>
            </a:r>
          </a:p>
          <a:p>
            <a:endParaRPr lang="pl-PL" dirty="0"/>
          </a:p>
          <a:p>
            <a:r>
              <a:rPr lang="pl-PL" b="1" dirty="0"/>
              <a:t>Inne przykłady krotności:</a:t>
            </a:r>
          </a:p>
          <a:p>
            <a:r>
              <a:rPr lang="pl-PL" dirty="0"/>
              <a:t>1, 4, 8</a:t>
            </a:r>
          </a:p>
          <a:p>
            <a:r>
              <a:rPr lang="pl-PL" dirty="0"/>
              <a:t>5..20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F31FEB0-5C5C-11EA-63C1-1373C9774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12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56CFA4B-CA51-6DD3-4662-330BCF9FAA1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7BF48DD0-9EE1-DE6F-3F53-A42706FB9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1CFCD436-AD72-87B2-3C0C-5313832D7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856" y="903821"/>
            <a:ext cx="5657102" cy="1671422"/>
          </a:xfrm>
          <a:prstGeom prst="rect">
            <a:avLst/>
          </a:prstGeom>
        </p:spPr>
      </p:pic>
      <p:sp>
        <p:nvSpPr>
          <p:cNvPr id="8" name="Symbol zastępczy zawartości 10">
            <a:extLst>
              <a:ext uri="{FF2B5EF4-FFF2-40B4-BE49-F238E27FC236}">
                <a16:creationId xmlns:a16="http://schemas.microsoft.com/office/drawing/2014/main" id="{3F5C1216-6910-723E-3A5D-09D629AB5A75}"/>
              </a:ext>
            </a:extLst>
          </p:cNvPr>
          <p:cNvSpPr txBox="1">
            <a:spLocks/>
          </p:cNvSpPr>
          <p:nvPr/>
        </p:nvSpPr>
        <p:spPr>
          <a:xfrm>
            <a:off x="6012160" y="1739532"/>
            <a:ext cx="720080" cy="263461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rmAutofit/>
          </a:bodyPr>
          <a:lstStyle>
            <a:lvl1pPr marL="4762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Tx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0488" indent="-90488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Lexend" pitchFamily="2" charset="-18"/>
              <a:buChar char="–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80975" indent="-85725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Lexend" pitchFamily="2" charset="-18"/>
              <a:buChar char="–"/>
              <a:tabLst>
                <a:tab pos="0" algn="l"/>
              </a:tabLst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266700" indent="-90488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Lexend" pitchFamily="2" charset="-18"/>
              <a:buChar char="–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357188" indent="-90488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l-PL" dirty="0">
                <a:solidFill>
                  <a:srgbClr val="00B050"/>
                </a:solidFill>
                <a:ea typeface="Calibri" panose="020F0502020204030204" pitchFamily="34" charset="0"/>
              </a:rPr>
              <a:t>asocjacja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0065EA2A-8AFB-8C7B-3F15-9976E883F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6478" y="2651258"/>
            <a:ext cx="5657102" cy="1323247"/>
          </a:xfrm>
          <a:prstGeom prst="rect">
            <a:avLst/>
          </a:prstGeom>
        </p:spPr>
      </p:pic>
      <p:sp>
        <p:nvSpPr>
          <p:cNvPr id="11" name="Symbol zastępczy zawartości 10">
            <a:extLst>
              <a:ext uri="{FF2B5EF4-FFF2-40B4-BE49-F238E27FC236}">
                <a16:creationId xmlns:a16="http://schemas.microsoft.com/office/drawing/2014/main" id="{D4A0F735-412F-A742-A13C-E554958809F4}"/>
              </a:ext>
            </a:extLst>
          </p:cNvPr>
          <p:cNvSpPr txBox="1">
            <a:spLocks/>
          </p:cNvSpPr>
          <p:nvPr/>
        </p:nvSpPr>
        <p:spPr>
          <a:xfrm>
            <a:off x="6104407" y="3312881"/>
            <a:ext cx="720080" cy="263461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rmAutofit/>
          </a:bodyPr>
          <a:lstStyle>
            <a:lvl1pPr marL="4762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Tx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0488" indent="-90488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Lexend" pitchFamily="2" charset="-18"/>
              <a:buChar char="–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80975" indent="-85725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Lexend" pitchFamily="2" charset="-18"/>
              <a:buChar char="–"/>
              <a:tabLst>
                <a:tab pos="0" algn="l"/>
              </a:tabLst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266700" indent="-90488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Lexend" pitchFamily="2" charset="-18"/>
              <a:buChar char="–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357188" indent="-90488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l-PL" dirty="0">
                <a:solidFill>
                  <a:srgbClr val="00B050"/>
                </a:solidFill>
                <a:ea typeface="Calibri" panose="020F0502020204030204" pitchFamily="34" charset="0"/>
              </a:rPr>
              <a:t>asocjacja</a:t>
            </a:r>
          </a:p>
        </p:txBody>
      </p:sp>
    </p:spTree>
    <p:extLst>
      <p:ext uri="{BB962C8B-B14F-4D97-AF65-F5344CB8AC3E}">
        <p14:creationId xmlns:p14="http://schemas.microsoft.com/office/powerpoint/2010/main" val="2615468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72CAEEE-B5CC-1E86-3906-0EA6E2165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041" y="99844"/>
            <a:ext cx="8389056" cy="576064"/>
          </a:xfrm>
        </p:spPr>
        <p:txBody>
          <a:bodyPr/>
          <a:lstStyle/>
          <a:p>
            <a:r>
              <a:rPr lang="pl-PL" dirty="0"/>
              <a:t>Jakie tu powinny być krotności?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48C6541-8D6D-F687-DB06-0A3B84342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9898C41-A6F0-CF5D-FD50-63A09EF79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13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081F3E0-4842-955C-9C6A-9FE389DCC7B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0DB956F-D160-183F-000C-977BCD13A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15483612-572E-6A18-7FA5-FDBC3EF4E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466" y="502451"/>
            <a:ext cx="6516723" cy="1011044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DD6049B9-74FE-6E12-BB8E-BA83A2E0C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388" y="1528281"/>
            <a:ext cx="6524883" cy="1011044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45A5B102-D02A-9489-8D58-EFA36DAF9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2705" y="2526609"/>
            <a:ext cx="6568247" cy="1019038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63296041-A251-CC50-AE40-73E332375F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8466" y="3520689"/>
            <a:ext cx="6516723" cy="13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17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0DC7408-CE73-99B7-5219-56B7BB03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Kompozycja i agregacja – warianty asocjacji</a:t>
            </a:r>
          </a:p>
        </p:txBody>
      </p:sp>
      <p:pic>
        <p:nvPicPr>
          <p:cNvPr id="8" name="Symbol zastępczy zawartości 7">
            <a:extLst>
              <a:ext uri="{FF2B5EF4-FFF2-40B4-BE49-F238E27FC236}">
                <a16:creationId xmlns:a16="http://schemas.microsoft.com/office/drawing/2014/main" id="{200CC6C6-39FF-186A-3681-248BF3FE63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2348" y="987574"/>
            <a:ext cx="4067175" cy="2333625"/>
          </a:xfrm>
        </p:spPr>
      </p:pic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6E2B11A-6640-B548-0D25-5BDE03D9D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14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5F0A758-0FD1-F561-6B23-D5713D14D6B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97C04BA-F305-7E5C-EDC3-6F34E1068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www.altkomakademia.pl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F9936E12-6393-7DE0-2E2A-B858D1932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075" y="968407"/>
            <a:ext cx="2114550" cy="3514725"/>
          </a:xfrm>
          <a:prstGeom prst="rect">
            <a:avLst/>
          </a:prstGeom>
        </p:spPr>
      </p:pic>
      <p:sp>
        <p:nvSpPr>
          <p:cNvPr id="7" name="Symbol zastępczy zawartości 10">
            <a:extLst>
              <a:ext uri="{FF2B5EF4-FFF2-40B4-BE49-F238E27FC236}">
                <a16:creationId xmlns:a16="http://schemas.microsoft.com/office/drawing/2014/main" id="{E35431FD-5BC3-6F70-F818-237EBD453587}"/>
              </a:ext>
            </a:extLst>
          </p:cNvPr>
          <p:cNvSpPr txBox="1">
            <a:spLocks/>
          </p:cNvSpPr>
          <p:nvPr/>
        </p:nvSpPr>
        <p:spPr>
          <a:xfrm>
            <a:off x="3275856" y="2440019"/>
            <a:ext cx="1008112" cy="263461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rmAutofit/>
          </a:bodyPr>
          <a:lstStyle>
            <a:lvl1pPr marL="4762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Tx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0488" indent="-90488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Lexend" pitchFamily="2" charset="-18"/>
              <a:buChar char="–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80975" indent="-85725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Lexend" pitchFamily="2" charset="-18"/>
              <a:buChar char="–"/>
              <a:tabLst>
                <a:tab pos="0" algn="l"/>
              </a:tabLst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266700" indent="-90488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Lexend" pitchFamily="2" charset="-18"/>
              <a:buChar char="–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357188" indent="-90488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l-PL" dirty="0">
                <a:solidFill>
                  <a:srgbClr val="00B050"/>
                </a:solidFill>
                <a:ea typeface="Calibri" panose="020F0502020204030204" pitchFamily="34" charset="0"/>
              </a:rPr>
              <a:t>kompozycja</a:t>
            </a:r>
          </a:p>
        </p:txBody>
      </p:sp>
      <p:sp>
        <p:nvSpPr>
          <p:cNvPr id="11" name="Symbol zastępczy zawartości 10">
            <a:extLst>
              <a:ext uri="{FF2B5EF4-FFF2-40B4-BE49-F238E27FC236}">
                <a16:creationId xmlns:a16="http://schemas.microsoft.com/office/drawing/2014/main" id="{5A9DB1AB-F582-916B-A7A4-FE9EDB69CC9F}"/>
              </a:ext>
            </a:extLst>
          </p:cNvPr>
          <p:cNvSpPr txBox="1">
            <a:spLocks/>
          </p:cNvSpPr>
          <p:nvPr/>
        </p:nvSpPr>
        <p:spPr>
          <a:xfrm>
            <a:off x="7508939" y="2606795"/>
            <a:ext cx="1008112" cy="263461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>
            <a:normAutofit/>
          </a:bodyPr>
          <a:lstStyle>
            <a:lvl1pPr marL="4762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Tx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0488" indent="-90488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Lexend" pitchFamily="2" charset="-18"/>
              <a:buChar char="–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80975" indent="-85725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Lexend" pitchFamily="2" charset="-18"/>
              <a:buChar char="–"/>
              <a:tabLst>
                <a:tab pos="0" algn="l"/>
              </a:tabLst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266700" indent="-90488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Lexend" pitchFamily="2" charset="-18"/>
              <a:buChar char="–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357188" indent="-90488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l-PL" dirty="0">
                <a:solidFill>
                  <a:srgbClr val="00B050"/>
                </a:solidFill>
                <a:ea typeface="Calibri" panose="020F0502020204030204" pitchFamily="34" charset="0"/>
              </a:rPr>
              <a:t>agregacja</a:t>
            </a:r>
          </a:p>
        </p:txBody>
      </p:sp>
    </p:spTree>
    <p:extLst>
      <p:ext uri="{BB962C8B-B14F-4D97-AF65-F5344CB8AC3E}">
        <p14:creationId xmlns:p14="http://schemas.microsoft.com/office/powerpoint/2010/main" val="3109991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447859F-1FFA-6746-8916-EAB91CD77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Asocjacja zwrotna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BF214B0-4AC2-30C5-628D-0A2B748DC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15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137CF0E-3034-CDAC-9B97-A272C5A5861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E66BD54-1008-7529-E349-CA5C40A20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4DCB8AD3-DBA7-B32E-1AD2-BA87D6C69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880" y="806597"/>
            <a:ext cx="3882277" cy="376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52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E68B758-23A1-438F-A1BF-9FCD5EFDE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Podział na podklasy za pomocą relacji generalizacji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D160A70-C982-BA61-E334-613744480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3648" y="3248264"/>
            <a:ext cx="7551104" cy="1580830"/>
          </a:xfrm>
        </p:spPr>
        <p:txBody>
          <a:bodyPr/>
          <a:lstStyle/>
          <a:p>
            <a:r>
              <a:rPr lang="pl-PL" altLang="pl-PL" dirty="0"/>
              <a:t>Podklasy można grupować wg </a:t>
            </a:r>
            <a:r>
              <a:rPr lang="pl-PL" altLang="pl-PL" dirty="0">
                <a:solidFill>
                  <a:srgbClr val="C00000"/>
                </a:solidFill>
              </a:rPr>
              <a:t>kryteriów</a:t>
            </a:r>
            <a:r>
              <a:rPr lang="pl-PL" altLang="pl-PL" dirty="0"/>
              <a:t> (</a:t>
            </a:r>
            <a:r>
              <a:rPr lang="pl-PL" altLang="pl-PL" dirty="0">
                <a:solidFill>
                  <a:srgbClr val="C00000"/>
                </a:solidFill>
              </a:rPr>
              <a:t>aspektów</a:t>
            </a:r>
            <a:r>
              <a:rPr lang="pl-PL" altLang="pl-PL" dirty="0"/>
              <a:t>) np. płeć, rola, marka itp. </a:t>
            </a:r>
          </a:p>
          <a:p>
            <a:endParaRPr lang="pl-PL" altLang="pl-PL" dirty="0"/>
          </a:p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0BB0CBA0-D832-2EFF-4763-33DB36A87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16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E9D6118-50E7-E715-97C9-4B462DD3EC4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525AAE4-3BD2-6DFB-EC86-AF0CEC79E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E230D0D5-0958-D293-DE88-40D1F27B9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792489"/>
            <a:ext cx="6378487" cy="24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198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3093B60-41FE-AF61-1B9B-2C9E631A1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Podział na podklasy za pomocą relacji generalizacji (dziedziczenia)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1AE999F-4241-2D0C-2DC5-DC540CD6C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4715" y="842962"/>
            <a:ext cx="2843229" cy="3709007"/>
          </a:xfrm>
        </p:spPr>
        <p:txBody>
          <a:bodyPr/>
          <a:lstStyle/>
          <a:p>
            <a:r>
              <a:rPr lang="pl-PL" altLang="pl-PL" dirty="0"/>
              <a:t>Kryteria podziału powinny być dodatkowo sprecyzowane jednym słowem z każdej pary: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altLang="pl-PL" dirty="0" err="1">
                <a:solidFill>
                  <a:srgbClr val="C00000"/>
                </a:solidFill>
              </a:rPr>
              <a:t>complete</a:t>
            </a:r>
            <a:r>
              <a:rPr lang="pl-PL" altLang="pl-PL" dirty="0">
                <a:solidFill>
                  <a:srgbClr val="C00000"/>
                </a:solidFill>
              </a:rPr>
              <a:t> – </a:t>
            </a:r>
            <a:r>
              <a:rPr lang="pl-PL" altLang="pl-PL" dirty="0" err="1">
                <a:solidFill>
                  <a:srgbClr val="C00000"/>
                </a:solidFill>
              </a:rPr>
              <a:t>incomplete</a:t>
            </a:r>
            <a:endParaRPr lang="pl-PL" altLang="pl-PL" dirty="0">
              <a:solidFill>
                <a:srgbClr val="C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altLang="pl-PL" dirty="0" err="1">
                <a:solidFill>
                  <a:srgbClr val="C00000"/>
                </a:solidFill>
              </a:rPr>
              <a:t>disjoint</a:t>
            </a:r>
            <a:r>
              <a:rPr lang="pl-PL" altLang="pl-PL" dirty="0">
                <a:solidFill>
                  <a:srgbClr val="C00000"/>
                </a:solidFill>
              </a:rPr>
              <a:t> - </a:t>
            </a:r>
            <a:r>
              <a:rPr lang="pl-PL" altLang="pl-PL" dirty="0" err="1">
                <a:solidFill>
                  <a:srgbClr val="C00000"/>
                </a:solidFill>
              </a:rPr>
              <a:t>overlapping</a:t>
            </a:r>
            <a:endParaRPr lang="pl-PL" altLang="pl-PL" dirty="0">
              <a:solidFill>
                <a:srgbClr val="C00000"/>
              </a:solidFill>
            </a:endParaRPr>
          </a:p>
          <a:p>
            <a:endParaRPr lang="pl-PL" altLang="pl-PL" dirty="0"/>
          </a:p>
          <a:p>
            <a:r>
              <a:rPr lang="pl-PL" altLang="pl-PL" b="1" dirty="0"/>
              <a:t>Zła wiadomość:</a:t>
            </a:r>
          </a:p>
          <a:p>
            <a:r>
              <a:rPr lang="pl-PL" altLang="pl-PL" dirty="0">
                <a:solidFill>
                  <a:srgbClr val="C00000"/>
                </a:solidFill>
              </a:rPr>
              <a:t>zbiór {</a:t>
            </a:r>
            <a:r>
              <a:rPr lang="pl-PL" altLang="pl-PL" dirty="0" err="1">
                <a:solidFill>
                  <a:srgbClr val="C00000"/>
                </a:solidFill>
              </a:rPr>
              <a:t>incomplete</a:t>
            </a:r>
            <a:r>
              <a:rPr lang="pl-PL" altLang="pl-PL" dirty="0">
                <a:solidFill>
                  <a:srgbClr val="C00000"/>
                </a:solidFill>
              </a:rPr>
              <a:t>, </a:t>
            </a:r>
            <a:r>
              <a:rPr lang="pl-PL" altLang="pl-PL" dirty="0" err="1">
                <a:solidFill>
                  <a:srgbClr val="C00000"/>
                </a:solidFill>
              </a:rPr>
              <a:t>overlapping</a:t>
            </a:r>
            <a:r>
              <a:rPr lang="pl-PL" altLang="pl-PL" dirty="0">
                <a:solidFill>
                  <a:srgbClr val="C00000"/>
                </a:solidFill>
              </a:rPr>
              <a:t>} jest domyślnym zestawem atrybutów!!!</a:t>
            </a:r>
          </a:p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E4AE2B2-AA76-D5BD-A7FE-EA312B6EE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17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5943A8D-4030-4339-8401-8E776F6C817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2ECE686-DAD3-5917-6E64-DAF61DF13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C69BAB6A-FE68-A417-E10D-1A25798B8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490" y="800882"/>
            <a:ext cx="4441677" cy="379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0863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E93439E-0DB3-F48C-E4EB-29FFC314F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Atrybuty </a:t>
            </a:r>
            <a:r>
              <a:rPr lang="pl-PL" u="sng" dirty="0"/>
              <a:t>statyczne</a:t>
            </a:r>
            <a:r>
              <a:rPr lang="pl-PL" dirty="0"/>
              <a:t> i /obliczalne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949200D-9696-E2EA-6DCC-7174241A6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D2B9947-161D-4B94-4DAA-70887AEBB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18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D998FF2-2A34-4B2A-B79F-70781A733D6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925BE8C-F17A-67B6-CC96-67A622561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6D62E5DA-0052-121B-FE4E-9737887CB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1012923"/>
            <a:ext cx="5915942" cy="365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390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68E371-C97A-9321-B57F-46E5544E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Klasy </a:t>
            </a:r>
            <a:r>
              <a:rPr lang="pl-PL" i="1" dirty="0"/>
              <a:t>abstrakcyjne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22D8D20-8D74-5E6B-A0CC-C317446F1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19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222ADAC-34EA-97F2-6DB3-D9174053007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09D679F-A808-5B2D-E238-71783B81D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  <p:pic>
        <p:nvPicPr>
          <p:cNvPr id="8" name="Symbol zastępczy zawartości 7">
            <a:extLst>
              <a:ext uri="{FF2B5EF4-FFF2-40B4-BE49-F238E27FC236}">
                <a16:creationId xmlns:a16="http://schemas.microsoft.com/office/drawing/2014/main" id="{DF703654-1D0A-9656-5366-77A5425BAE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1920" y="915566"/>
            <a:ext cx="4669931" cy="35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563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B213DB5-0E99-323C-5F67-2FB0DEB10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Logiczny model danych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7C540E6-476E-2A40-F526-B9751DEF6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2BFDBAC-14F7-D931-BEB1-90B5FB08B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20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59FF70D-13C8-E088-2043-61D8D81F41E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9E9D612-B65B-A2D3-8E10-EA4748F36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4940B978-5D0B-AF11-EA59-2E6144CE1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4" y="812061"/>
            <a:ext cx="6019800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9324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505B934-7E80-6DA2-9130-BED10F6EE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Relacja zależności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EBDACF7-DF2F-74B2-AD8C-0F53A6757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21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97FD1FC-A4FC-7FB1-865A-31090760C44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A9BEF16-0F18-9B44-C94E-D90BD7588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F6C56C-55CA-2069-F8FE-6ACD78C70946}"/>
              </a:ext>
            </a:extLst>
          </p:cNvPr>
          <p:cNvSpPr txBox="1">
            <a:spLocks noChangeArrowheads="1"/>
          </p:cNvSpPr>
          <p:nvPr/>
        </p:nvSpPr>
        <p:spPr>
          <a:xfrm>
            <a:off x="168853" y="684782"/>
            <a:ext cx="8892480" cy="5486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altLang="pl-PL" sz="1400" dirty="0">
                <a:solidFill>
                  <a:schemeClr val="tx2"/>
                </a:solidFill>
                <a:latin typeface="+mn-lt"/>
              </a:rPr>
              <a:t>Źródło zależy od elementu docelowego, tzn. zmiany w elemencie docelowym </a:t>
            </a:r>
            <a:r>
              <a:rPr lang="pl-PL" altLang="pl-PL" sz="1400" dirty="0">
                <a:solidFill>
                  <a:srgbClr val="C00000"/>
                </a:solidFill>
                <a:latin typeface="+mn-lt"/>
              </a:rPr>
              <a:t>mogą implikować zmiany w źródle</a:t>
            </a:r>
            <a:r>
              <a:rPr lang="pl-PL" altLang="pl-PL" sz="1400" dirty="0">
                <a:latin typeface="+mn-lt"/>
              </a:rPr>
              <a:t>.</a:t>
            </a:r>
          </a:p>
          <a:p>
            <a:endParaRPr lang="pl-PL" altLang="pl-PL" sz="1400" dirty="0">
              <a:latin typeface="+mn-lt"/>
            </a:endParaRPr>
          </a:p>
          <a:p>
            <a:r>
              <a:rPr lang="pl-PL" altLang="pl-PL" sz="1400" dirty="0">
                <a:solidFill>
                  <a:schemeClr val="tx2"/>
                </a:solidFill>
                <a:latin typeface="+mn-lt"/>
              </a:rPr>
              <a:t>&lt;&lt;</a:t>
            </a:r>
            <a:r>
              <a:rPr lang="pl-PL" altLang="pl-PL" sz="1400" dirty="0" err="1">
                <a:solidFill>
                  <a:srgbClr val="00B050"/>
                </a:solidFill>
                <a:latin typeface="+mn-lt"/>
              </a:rPr>
              <a:t>derive</a:t>
            </a:r>
            <a:r>
              <a:rPr lang="pl-PL" altLang="pl-PL" sz="1400" dirty="0">
                <a:solidFill>
                  <a:schemeClr val="tx2"/>
                </a:solidFill>
                <a:latin typeface="+mn-lt"/>
              </a:rPr>
              <a:t>&gt;&gt; - element źródłowy może zostać obliczony </a:t>
            </a:r>
            <a:br>
              <a:rPr lang="pl-PL" altLang="pl-PL" sz="1400" dirty="0">
                <a:solidFill>
                  <a:schemeClr val="tx2"/>
                </a:solidFill>
                <a:latin typeface="+mn-lt"/>
              </a:rPr>
            </a:br>
            <a:r>
              <a:rPr lang="pl-PL" altLang="pl-PL" sz="1400" dirty="0">
                <a:solidFill>
                  <a:schemeClr val="tx2"/>
                </a:solidFill>
                <a:latin typeface="+mn-lt"/>
              </a:rPr>
              <a:t>na podstawie docelowego</a:t>
            </a:r>
          </a:p>
          <a:p>
            <a:endParaRPr lang="pl-PL" altLang="pl-PL" sz="1400" dirty="0">
              <a:latin typeface="+mn-lt"/>
            </a:endParaRPr>
          </a:p>
          <a:p>
            <a:endParaRPr lang="pl-PL" altLang="pl-PL" sz="1400" dirty="0">
              <a:latin typeface="+mn-lt"/>
            </a:endParaRPr>
          </a:p>
          <a:p>
            <a:endParaRPr lang="pl-PL" altLang="pl-PL" sz="1400" dirty="0">
              <a:latin typeface="+mn-lt"/>
            </a:endParaRPr>
          </a:p>
          <a:p>
            <a:r>
              <a:rPr lang="pl-PL" altLang="pl-PL" sz="1400" dirty="0">
                <a:solidFill>
                  <a:schemeClr val="tx2"/>
                </a:solidFill>
                <a:latin typeface="+mn-lt"/>
              </a:rPr>
              <a:t>&lt;&lt;</a:t>
            </a:r>
            <a:r>
              <a:rPr lang="pl-PL" altLang="pl-PL" sz="1400" dirty="0" err="1">
                <a:solidFill>
                  <a:srgbClr val="00B050"/>
                </a:solidFill>
                <a:latin typeface="+mn-lt"/>
              </a:rPr>
              <a:t>trace</a:t>
            </a:r>
            <a:r>
              <a:rPr lang="pl-PL" altLang="pl-PL" sz="1400" dirty="0">
                <a:solidFill>
                  <a:schemeClr val="tx2"/>
                </a:solidFill>
                <a:latin typeface="+mn-lt"/>
              </a:rPr>
              <a:t>&gt;&gt; - to samo pojęcie wyrażone różnymi elementami </a:t>
            </a:r>
            <a:br>
              <a:rPr lang="pl-PL" altLang="pl-PL" sz="1400" dirty="0">
                <a:latin typeface="+mn-lt"/>
              </a:rPr>
            </a:br>
            <a:endParaRPr lang="pl-PL" altLang="pl-PL" sz="1400" dirty="0">
              <a:latin typeface="+mn-lt"/>
            </a:endParaRPr>
          </a:p>
          <a:p>
            <a:endParaRPr lang="pl-PL" altLang="pl-PL" sz="1400" dirty="0">
              <a:latin typeface="+mn-lt"/>
            </a:endParaRPr>
          </a:p>
          <a:p>
            <a:endParaRPr lang="pl-PL" altLang="pl-PL" sz="1400" dirty="0">
              <a:latin typeface="+mn-lt"/>
            </a:endParaRPr>
          </a:p>
          <a:p>
            <a:pPr>
              <a:lnSpc>
                <a:spcPct val="80000"/>
              </a:lnSpc>
            </a:pPr>
            <a:r>
              <a:rPr lang="pl-PL" altLang="pl-PL" sz="1400" dirty="0">
                <a:solidFill>
                  <a:schemeClr val="tx2"/>
                </a:solidFill>
                <a:latin typeface="+mn-lt"/>
              </a:rPr>
              <a:t>&lt;&lt;</a:t>
            </a:r>
            <a:r>
              <a:rPr lang="pl-PL" altLang="pl-PL" sz="1400" dirty="0" err="1">
                <a:solidFill>
                  <a:srgbClr val="00B050"/>
                </a:solidFill>
                <a:latin typeface="+mn-lt"/>
              </a:rPr>
              <a:t>refine</a:t>
            </a:r>
            <a:r>
              <a:rPr lang="pl-PL" altLang="pl-PL" sz="1400" dirty="0">
                <a:latin typeface="+mn-lt"/>
              </a:rPr>
              <a:t>&gt;&gt; </a:t>
            </a:r>
            <a:r>
              <a:rPr lang="pl-PL" altLang="pl-PL" sz="1400" dirty="0">
                <a:solidFill>
                  <a:schemeClr val="tx2"/>
                </a:solidFill>
                <a:latin typeface="+mn-lt"/>
              </a:rPr>
              <a:t>- uszczegółowienie tego samego pojęcia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C07837C2-2EC3-16A1-4EAC-0A8DB984F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418" y="2290321"/>
            <a:ext cx="4111875" cy="1231931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2640C24D-3C33-C6BE-37FC-0E2C99862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550" y="3658355"/>
            <a:ext cx="4250783" cy="1289659"/>
          </a:xfrm>
          <a:prstGeom prst="rect">
            <a:avLst/>
          </a:prstGeom>
        </p:spPr>
      </p:pic>
      <p:pic>
        <p:nvPicPr>
          <p:cNvPr id="14" name="Obraz 13">
            <a:extLst>
              <a:ext uri="{FF2B5EF4-FFF2-40B4-BE49-F238E27FC236}">
                <a16:creationId xmlns:a16="http://schemas.microsoft.com/office/drawing/2014/main" id="{FA0C2A86-A683-7BA6-F251-E027103ED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418" y="1023788"/>
            <a:ext cx="4125049" cy="116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7347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6F25F28-B55A-48B7-9CA3-29069BBF4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Typ danych (</a:t>
            </a:r>
            <a:r>
              <a:rPr lang="pl-PL" i="1" dirty="0"/>
              <a:t>Data </a:t>
            </a:r>
            <a:r>
              <a:rPr lang="pl-PL" i="1" dirty="0" err="1"/>
              <a:t>type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E1D0833-3576-0035-FD2E-415595EA0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624" y="898147"/>
            <a:ext cx="2884911" cy="3709007"/>
          </a:xfrm>
        </p:spPr>
        <p:txBody>
          <a:bodyPr/>
          <a:lstStyle/>
          <a:p>
            <a:r>
              <a:rPr lang="pl-PL" dirty="0">
                <a:solidFill>
                  <a:srgbClr val="00B050"/>
                </a:solidFill>
              </a:rPr>
              <a:t>Typ danych </a:t>
            </a:r>
            <a:r>
              <a:rPr lang="pl-PL" dirty="0"/>
              <a:t>= specjalny klasyfikator służący do wyrażania typów atrybutów w innych klasyfikatorach. </a:t>
            </a:r>
          </a:p>
          <a:p>
            <a:r>
              <a:rPr lang="pl-PL" dirty="0"/>
              <a:t>Może mieć atrybuty i operacje. </a:t>
            </a:r>
          </a:p>
          <a:p>
            <a:endParaRPr lang="pl-PL" dirty="0"/>
          </a:p>
          <a:p>
            <a:r>
              <a:rPr lang="pl-PL" dirty="0">
                <a:solidFill>
                  <a:srgbClr val="C00000"/>
                </a:solidFill>
              </a:rPr>
              <a:t>Od klasy różni się tym, </a:t>
            </a:r>
            <a:br>
              <a:rPr lang="pl-PL" dirty="0">
                <a:solidFill>
                  <a:srgbClr val="C00000"/>
                </a:solidFill>
              </a:rPr>
            </a:br>
            <a:r>
              <a:rPr lang="pl-PL" dirty="0">
                <a:solidFill>
                  <a:srgbClr val="C00000"/>
                </a:solidFill>
              </a:rPr>
              <a:t>iż jego instancje są rozróżnialne tylko przez wartości jego atrybutów.</a:t>
            </a:r>
          </a:p>
          <a:p>
            <a:endParaRPr lang="pl-PL" dirty="0"/>
          </a:p>
          <a:p>
            <a:r>
              <a:rPr lang="pl-PL" dirty="0"/>
              <a:t>Szczególnymi rodzajami </a:t>
            </a:r>
            <a:br>
              <a:rPr lang="pl-PL" dirty="0"/>
            </a:br>
            <a:r>
              <a:rPr lang="pl-PL" u="sng" dirty="0"/>
              <a:t>typu danych</a:t>
            </a:r>
            <a:r>
              <a:rPr lang="pl-PL" dirty="0"/>
              <a:t> są: </a:t>
            </a:r>
          </a:p>
          <a:p>
            <a:pPr marL="290512" indent="-285750">
              <a:buFont typeface="Arial" panose="020B0604020202020204" pitchFamily="34" charset="0"/>
              <a:buChar char="•"/>
            </a:pPr>
            <a:r>
              <a:rPr lang="pl-PL" dirty="0">
                <a:solidFill>
                  <a:srgbClr val="C00000"/>
                </a:solidFill>
              </a:rPr>
              <a:t>typ prosty </a:t>
            </a:r>
            <a:r>
              <a:rPr lang="pl-PL" dirty="0"/>
              <a:t>(</a:t>
            </a:r>
            <a:r>
              <a:rPr lang="pl-PL" i="1" dirty="0" err="1"/>
              <a:t>Primitive</a:t>
            </a:r>
            <a:r>
              <a:rPr lang="pl-PL" i="1" dirty="0"/>
              <a:t> Data </a:t>
            </a:r>
            <a:r>
              <a:rPr lang="pl-PL" i="1" dirty="0" err="1"/>
              <a:t>Type</a:t>
            </a:r>
            <a:r>
              <a:rPr lang="pl-PL" dirty="0"/>
              <a:t>) </a:t>
            </a:r>
          </a:p>
          <a:p>
            <a:pPr marL="290512" indent="-285750">
              <a:buFont typeface="Arial" panose="020B0604020202020204" pitchFamily="34" charset="0"/>
              <a:buChar char="•"/>
            </a:pPr>
            <a:r>
              <a:rPr lang="pl-PL" dirty="0">
                <a:solidFill>
                  <a:srgbClr val="C00000"/>
                </a:solidFill>
              </a:rPr>
              <a:t>typ wyliczeniowy</a:t>
            </a:r>
            <a:r>
              <a:rPr lang="pl-PL" dirty="0"/>
              <a:t> (</a:t>
            </a:r>
            <a:r>
              <a:rPr lang="pl-PL" i="1" dirty="0" err="1"/>
              <a:t>Enumeration</a:t>
            </a:r>
            <a:r>
              <a:rPr lang="pl-PL" dirty="0"/>
              <a:t>)</a:t>
            </a:r>
          </a:p>
          <a:p>
            <a:endParaRPr lang="pl-PL" dirty="0"/>
          </a:p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0504651-30D9-B77E-B631-C75800325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22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447FD12-372B-10E7-7F41-52694D3151E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AEBE63C-9A6F-83B4-8428-BFE6CD3B1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E06BF16-D4FC-387E-FC1F-36C6BABBB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7" y="787251"/>
            <a:ext cx="5112567" cy="1973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CF9E12C4-F4DD-5ED1-91B8-95D20BD81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474" y="2650243"/>
            <a:ext cx="3781674" cy="2095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998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9216FCB-67D7-27C3-A2CC-A37151EB5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Typy proste (</a:t>
            </a:r>
            <a:r>
              <a:rPr lang="pl-PL" i="1" dirty="0" err="1"/>
              <a:t>Primitive</a:t>
            </a:r>
            <a:r>
              <a:rPr lang="pl-PL" i="1" dirty="0"/>
              <a:t> Data </a:t>
            </a:r>
            <a:r>
              <a:rPr lang="pl-PL" i="1" dirty="0" err="1"/>
              <a:t>Type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6509726-7538-C48A-D9C1-336539BE8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5824" y="842963"/>
            <a:ext cx="6232599" cy="3709007"/>
          </a:xfrm>
        </p:spPr>
        <p:txBody>
          <a:bodyPr/>
          <a:lstStyle/>
          <a:p>
            <a:pPr marL="0" lvl="1" indent="0" fontAlgn="base">
              <a:spcAft>
                <a:spcPct val="0"/>
              </a:spcAft>
              <a:buClr>
                <a:srgbClr val="FFA117"/>
              </a:buClr>
              <a:buNone/>
            </a:pPr>
            <a:r>
              <a:rPr lang="pl-PL" sz="1400" kern="0" dirty="0">
                <a:solidFill>
                  <a:srgbClr val="00B050"/>
                </a:solidFill>
              </a:rPr>
              <a:t>Typ prosty </a:t>
            </a:r>
            <a:r>
              <a:rPr lang="pl-PL" sz="1400" kern="0" dirty="0"/>
              <a:t>= przyjęty w języku UML typ danych, który nie ma atrybutów ani operacji</a:t>
            </a:r>
            <a:r>
              <a:rPr lang="pl-PL" sz="1400" kern="0" dirty="0">
                <a:solidFill>
                  <a:srgbClr val="00B050"/>
                </a:solidFill>
              </a:rPr>
              <a:t>.</a:t>
            </a:r>
          </a:p>
          <a:p>
            <a:pPr marL="0" lvl="1" indent="0" fontAlgn="base">
              <a:spcAft>
                <a:spcPct val="0"/>
              </a:spcAft>
              <a:buClr>
                <a:srgbClr val="FFA117"/>
              </a:buClr>
              <a:buNone/>
            </a:pPr>
            <a:endParaRPr lang="pl-PL" sz="1400" kern="0" dirty="0">
              <a:solidFill>
                <a:srgbClr val="00B050"/>
              </a:solidFill>
            </a:endParaRPr>
          </a:p>
          <a:p>
            <a:pPr marL="0" lvl="1" indent="0" fontAlgn="base">
              <a:spcAft>
                <a:spcPct val="0"/>
              </a:spcAft>
              <a:buClr>
                <a:srgbClr val="FFA117"/>
              </a:buClr>
              <a:buNone/>
            </a:pPr>
            <a:r>
              <a:rPr lang="pl-PL" sz="1400" kern="0" dirty="0">
                <a:solidFill>
                  <a:srgbClr val="00B050"/>
                </a:solidFill>
              </a:rPr>
              <a:t>Standardowe typy proste </a:t>
            </a:r>
            <a:r>
              <a:rPr lang="pl-PL" sz="1400" kern="0" dirty="0">
                <a:solidFill>
                  <a:srgbClr val="000000"/>
                </a:solidFill>
              </a:rPr>
              <a:t>w UML to:</a:t>
            </a:r>
          </a:p>
          <a:p>
            <a:pPr marL="0" lvl="1" indent="0" fontAlgn="base">
              <a:spcAft>
                <a:spcPct val="0"/>
              </a:spcAft>
              <a:buClr>
                <a:srgbClr val="FFA117"/>
              </a:buClr>
              <a:buNone/>
            </a:pPr>
            <a:endParaRPr lang="pl-PL" sz="1400" b="1" kern="0" dirty="0">
              <a:solidFill>
                <a:srgbClr val="00000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pl-PL" sz="1400" dirty="0" err="1">
                <a:solidFill>
                  <a:srgbClr val="C00000"/>
                </a:solidFill>
              </a:rPr>
              <a:t>Boolean</a:t>
            </a:r>
            <a:r>
              <a:rPr lang="pl-PL" sz="1400" dirty="0">
                <a:solidFill>
                  <a:srgbClr val="C00000"/>
                </a:solidFill>
              </a:rPr>
              <a:t>		</a:t>
            </a:r>
            <a:r>
              <a:rPr lang="pl-PL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pl-PL" sz="1400" dirty="0" err="1"/>
              <a:t>true</a:t>
            </a:r>
            <a:r>
              <a:rPr lang="pl-PL" sz="1400" dirty="0"/>
              <a:t> , </a:t>
            </a:r>
            <a:r>
              <a:rPr lang="pl-PL" sz="1400" dirty="0" err="1"/>
              <a:t>false</a:t>
            </a:r>
            <a:endParaRPr lang="pl-PL" sz="1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pl-PL" sz="1400" dirty="0" err="1">
                <a:solidFill>
                  <a:srgbClr val="C00000"/>
                </a:solidFill>
              </a:rPr>
              <a:t>Integer</a:t>
            </a:r>
            <a:r>
              <a:rPr lang="pl-PL" sz="1400" dirty="0">
                <a:solidFill>
                  <a:srgbClr val="C00000"/>
                </a:solidFill>
              </a:rPr>
              <a:t>		</a:t>
            </a:r>
            <a:r>
              <a:rPr lang="pl-PL" sz="1400" dirty="0"/>
              <a:t>-8, 0, 123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l-PL" sz="1400" dirty="0" err="1">
                <a:solidFill>
                  <a:srgbClr val="C00000"/>
                </a:solidFill>
              </a:rPr>
              <a:t>UnlimitedNatural</a:t>
            </a:r>
            <a:r>
              <a:rPr lang="pl-PL" sz="1400" dirty="0">
                <a:solidFill>
                  <a:srgbClr val="C00000"/>
                </a:solidFill>
              </a:rPr>
              <a:t>	</a:t>
            </a:r>
            <a:r>
              <a:rPr lang="pl-PL" sz="1400" dirty="0"/>
              <a:t>0, 1, 2, 123, *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rgbClr val="C00000"/>
                </a:solidFill>
              </a:rPr>
              <a:t>Real		</a:t>
            </a:r>
            <a:r>
              <a:rPr lang="pl-PL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pl-PL" sz="1400" dirty="0"/>
              <a:t>-233.78,   -2.3378E+02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rgbClr val="C00000"/>
                </a:solidFill>
              </a:rPr>
              <a:t>String		</a:t>
            </a:r>
            <a:r>
              <a:rPr lang="pl-PL" sz="1400" dirty="0"/>
              <a:t>„Ala ma kota”</a:t>
            </a:r>
          </a:p>
          <a:p>
            <a:pPr lvl="1">
              <a:buFont typeface="Arial" panose="020B0604020202020204" pitchFamily="34" charset="0"/>
              <a:buChar char="•"/>
            </a:pPr>
            <a:endParaRPr lang="pl-PL" sz="1400" dirty="0">
              <a:solidFill>
                <a:srgbClr val="C00000"/>
              </a:solidFill>
            </a:endParaRPr>
          </a:p>
          <a:p>
            <a:endParaRPr lang="pl-PL" u="sng" dirty="0"/>
          </a:p>
          <a:p>
            <a:r>
              <a:rPr lang="pl-PL" b="1" dirty="0"/>
              <a:t>Dobra wiadomość:</a:t>
            </a:r>
          </a:p>
          <a:p>
            <a:r>
              <a:rPr lang="pl-PL" u="sng" dirty="0"/>
              <a:t>można tworzyć własne</a:t>
            </a:r>
            <a:r>
              <a:rPr lang="pl-PL" dirty="0"/>
              <a:t> </a:t>
            </a:r>
            <a:r>
              <a:rPr lang="pl-PL" sz="1400" kern="0" dirty="0">
                <a:solidFill>
                  <a:srgbClr val="00B050"/>
                </a:solidFill>
              </a:rPr>
              <a:t>typy proste </a:t>
            </a:r>
            <a:r>
              <a:rPr lang="pl-PL" dirty="0"/>
              <a:t>np. 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1C6E34A-73B5-7716-E3BD-E3779F254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23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20266B2-1AC9-CBC4-1BDF-BD359BC96F5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E7CAE050-BB21-F6B7-13F2-1F84958E5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50141513-92FE-911C-DCFE-97E08B904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00" y="3291830"/>
            <a:ext cx="1478935" cy="112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908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D6CA05-38C0-AA17-D231-48C85AB01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Obiekty i klasy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D4764F4-7859-67C9-83FD-7DC730F12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24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FA838EAE-EE42-0142-FE9A-61067F49D2A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9228399-1550-9151-9F05-D6071DA9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14D5AEB-EDAC-4811-513D-CE0F020899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55776" y="699542"/>
            <a:ext cx="6588224" cy="1584176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pl-PL" altLang="pl-PL" dirty="0"/>
              <a:t>Diagram obiektów przedstawia obiekty, i ich powiązania i stany </a:t>
            </a:r>
            <a:r>
              <a:rPr lang="pl-PL" altLang="pl-PL" dirty="0">
                <a:solidFill>
                  <a:srgbClr val="C00000"/>
                </a:solidFill>
              </a:rPr>
              <a:t>w danej chwili</a:t>
            </a:r>
            <a:r>
              <a:rPr lang="pl-PL" altLang="pl-PL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pl-PL" altLang="pl-PL" dirty="0"/>
              <a:t>W </a:t>
            </a:r>
            <a:r>
              <a:rPr lang="pl-PL" altLang="pl-PL" dirty="0">
                <a:solidFill>
                  <a:srgbClr val="00B050"/>
                </a:solidFill>
              </a:rPr>
              <a:t>slotach</a:t>
            </a:r>
            <a:r>
              <a:rPr lang="pl-PL" altLang="pl-PL" dirty="0"/>
              <a:t> obiektu prezentowane są nazwy i przykładowe wartości atrybutów.</a:t>
            </a:r>
          </a:p>
          <a:p>
            <a:pPr eaLnBrk="1" hangingPunct="1">
              <a:lnSpc>
                <a:spcPct val="90000"/>
              </a:lnSpc>
            </a:pPr>
            <a:endParaRPr lang="pl-PL" altLang="pl-PL" dirty="0"/>
          </a:p>
          <a:p>
            <a:pPr eaLnBrk="1" hangingPunct="1">
              <a:lnSpc>
                <a:spcPct val="90000"/>
              </a:lnSpc>
            </a:pPr>
            <a:r>
              <a:rPr lang="pl-PL" altLang="pl-PL" dirty="0"/>
              <a:t>Liczba slotów danego obiektu pokazywanych na diagramie może się różnić od liczby atrybutów zdefiniowanych w jego klasie.</a:t>
            </a:r>
          </a:p>
          <a:p>
            <a:pPr eaLnBrk="1" hangingPunct="1">
              <a:lnSpc>
                <a:spcPct val="90000"/>
              </a:lnSpc>
            </a:pPr>
            <a:endParaRPr lang="pl-PL" altLang="pl-PL" dirty="0"/>
          </a:p>
          <a:p>
            <a:pPr eaLnBrk="1" hangingPunct="1">
              <a:lnSpc>
                <a:spcPct val="90000"/>
              </a:lnSpc>
            </a:pPr>
            <a:r>
              <a:rPr lang="pl-PL" altLang="pl-PL" dirty="0"/>
              <a:t>Reprezentacje obiektów to </a:t>
            </a:r>
            <a:r>
              <a:rPr lang="pl-PL" altLang="pl-PL" dirty="0">
                <a:solidFill>
                  <a:srgbClr val="00B050"/>
                </a:solidFill>
              </a:rPr>
              <a:t>specyfikacje instancji (</a:t>
            </a:r>
            <a:r>
              <a:rPr lang="pl-PL" altLang="pl-PL" i="1" dirty="0" err="1">
                <a:solidFill>
                  <a:srgbClr val="00B050"/>
                </a:solidFill>
              </a:rPr>
              <a:t>Instance</a:t>
            </a:r>
            <a:r>
              <a:rPr lang="pl-PL" altLang="pl-PL" i="1" dirty="0">
                <a:solidFill>
                  <a:srgbClr val="00B050"/>
                </a:solidFill>
              </a:rPr>
              <a:t> </a:t>
            </a:r>
            <a:r>
              <a:rPr lang="pl-PL" altLang="pl-PL" i="1" dirty="0" err="1">
                <a:solidFill>
                  <a:srgbClr val="00B050"/>
                </a:solidFill>
              </a:rPr>
              <a:t>Specification</a:t>
            </a:r>
            <a:r>
              <a:rPr lang="pl-PL" altLang="pl-PL" dirty="0">
                <a:solidFill>
                  <a:srgbClr val="00B050"/>
                </a:solidFill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pl-PL" altLang="pl-PL" dirty="0"/>
              <a:t>Powiązania pomiędzy obiektami to </a:t>
            </a:r>
            <a:r>
              <a:rPr lang="pl-PL" altLang="pl-PL" dirty="0">
                <a:solidFill>
                  <a:srgbClr val="00B050"/>
                </a:solidFill>
              </a:rPr>
              <a:t>linki</a:t>
            </a:r>
            <a:r>
              <a:rPr lang="pl-PL" altLang="pl-PL" dirty="0"/>
              <a:t> (instancje asocjacji)</a:t>
            </a:r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B336CE8D-F6A3-F8A1-1FAF-127ABFBAB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446" y="2213308"/>
            <a:ext cx="8116433" cy="1781424"/>
          </a:xfrm>
          <a:prstGeom prst="rect">
            <a:avLst/>
          </a:prstGeom>
        </p:spPr>
      </p:pic>
      <p:sp>
        <p:nvSpPr>
          <p:cNvPr id="14" name="Symbol zastępczy zawartości 2">
            <a:extLst>
              <a:ext uri="{FF2B5EF4-FFF2-40B4-BE49-F238E27FC236}">
                <a16:creationId xmlns:a16="http://schemas.microsoft.com/office/drawing/2014/main" id="{053ADB37-38CB-70FD-85B7-4B7802BF4E3D}"/>
              </a:ext>
            </a:extLst>
          </p:cNvPr>
          <p:cNvSpPr txBox="1">
            <a:spLocks/>
          </p:cNvSpPr>
          <p:nvPr/>
        </p:nvSpPr>
        <p:spPr>
          <a:xfrm>
            <a:off x="107504" y="2763199"/>
            <a:ext cx="1022524" cy="30502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762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Tx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0488" indent="-90488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Lexend" pitchFamily="2" charset="-18"/>
              <a:buChar char="–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80975" indent="-85725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Lexend" pitchFamily="2" charset="-18"/>
              <a:buChar char="–"/>
              <a:tabLst>
                <a:tab pos="0" algn="l"/>
              </a:tabLst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266700" indent="-90488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Lexend" pitchFamily="2" charset="-18"/>
              <a:buChar char="–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357188" indent="-90488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>
                <a:solidFill>
                  <a:srgbClr val="00B050"/>
                </a:solidFill>
              </a:rPr>
              <a:t>stan obiektu</a:t>
            </a:r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8828C18F-094B-85FA-CF7B-80CFB5D17E40}"/>
              </a:ext>
            </a:extLst>
          </p:cNvPr>
          <p:cNvCxnSpPr>
            <a:cxnSpLocks/>
          </p:cNvCxnSpPr>
          <p:nvPr/>
        </p:nvCxnSpPr>
        <p:spPr>
          <a:xfrm>
            <a:off x="1043608" y="2859782"/>
            <a:ext cx="730267" cy="8900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ymbol zastępczy zawartości 2">
            <a:extLst>
              <a:ext uri="{FF2B5EF4-FFF2-40B4-BE49-F238E27FC236}">
                <a16:creationId xmlns:a16="http://schemas.microsoft.com/office/drawing/2014/main" id="{D56FD41E-FA41-4AB2-049F-C696F22031A9}"/>
              </a:ext>
            </a:extLst>
          </p:cNvPr>
          <p:cNvSpPr txBox="1">
            <a:spLocks/>
          </p:cNvSpPr>
          <p:nvPr/>
        </p:nvSpPr>
        <p:spPr>
          <a:xfrm>
            <a:off x="3491880" y="3795886"/>
            <a:ext cx="453127" cy="29549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762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Tx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0488" indent="-90488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Lexend" pitchFamily="2" charset="-18"/>
              <a:buChar char="–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80975" indent="-85725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Lexend" pitchFamily="2" charset="-18"/>
              <a:buChar char="–"/>
              <a:tabLst>
                <a:tab pos="0" algn="l"/>
              </a:tabLst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266700" indent="-90488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Lexend" pitchFamily="2" charset="-18"/>
              <a:buChar char="–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357188" indent="-90488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>
                <a:solidFill>
                  <a:srgbClr val="00B050"/>
                </a:solidFill>
              </a:rPr>
              <a:t> link</a:t>
            </a: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31CDD2DE-582A-49A6-CF3C-426061B1F5FB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3563888" y="3068225"/>
            <a:ext cx="154556" cy="72766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Symbol zastępczy zawartości 2">
            <a:extLst>
              <a:ext uri="{FF2B5EF4-FFF2-40B4-BE49-F238E27FC236}">
                <a16:creationId xmlns:a16="http://schemas.microsoft.com/office/drawing/2014/main" id="{578C4C96-BCC3-D92E-C59C-2984DB228C9E}"/>
              </a:ext>
            </a:extLst>
          </p:cNvPr>
          <p:cNvSpPr txBox="1">
            <a:spLocks/>
          </p:cNvSpPr>
          <p:nvPr/>
        </p:nvSpPr>
        <p:spPr>
          <a:xfrm>
            <a:off x="1907704" y="4220474"/>
            <a:ext cx="453127" cy="29549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762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Tx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0488" indent="-90488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Lexend" pitchFamily="2" charset="-18"/>
              <a:buChar char="–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80975" indent="-85725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Lexend" pitchFamily="2" charset="-18"/>
              <a:buChar char="–"/>
              <a:tabLst>
                <a:tab pos="0" algn="l"/>
              </a:tabLst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266700" indent="-90488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Lexend" pitchFamily="2" charset="-18"/>
              <a:buChar char="–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357188" indent="-90488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sloty</a:t>
            </a:r>
            <a:endParaRPr lang="pl-PL" dirty="0">
              <a:solidFill>
                <a:srgbClr val="00B050"/>
              </a:solidFill>
            </a:endParaRPr>
          </a:p>
        </p:txBody>
      </p:sp>
      <p:cxnSp>
        <p:nvCxnSpPr>
          <p:cNvPr id="34" name="Łącznik prosty ze strzałką 33">
            <a:extLst>
              <a:ext uri="{FF2B5EF4-FFF2-40B4-BE49-F238E27FC236}">
                <a16:creationId xmlns:a16="http://schemas.microsoft.com/office/drawing/2014/main" id="{6B38A257-6652-B600-5A56-3A293CD8665A}"/>
              </a:ext>
            </a:extLst>
          </p:cNvPr>
          <p:cNvCxnSpPr>
            <a:cxnSpLocks/>
            <a:stCxn id="33" idx="0"/>
          </p:cNvCxnSpPr>
          <p:nvPr/>
        </p:nvCxnSpPr>
        <p:spPr>
          <a:xfrm flipH="1" flipV="1">
            <a:off x="1979712" y="3492813"/>
            <a:ext cx="154556" cy="72766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ymbol zastępczy zawartości 2">
            <a:extLst>
              <a:ext uri="{FF2B5EF4-FFF2-40B4-BE49-F238E27FC236}">
                <a16:creationId xmlns:a16="http://schemas.microsoft.com/office/drawing/2014/main" id="{C952F0D4-5681-1B8D-A94F-9334D421F412}"/>
              </a:ext>
            </a:extLst>
          </p:cNvPr>
          <p:cNvSpPr txBox="1">
            <a:spLocks/>
          </p:cNvSpPr>
          <p:nvPr/>
        </p:nvSpPr>
        <p:spPr>
          <a:xfrm>
            <a:off x="3375366" y="4296212"/>
            <a:ext cx="1577849" cy="295492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4762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Tx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0488" indent="-90488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Lexend" pitchFamily="2" charset="-18"/>
              <a:buChar char="–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80975" indent="-85725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Lexend" pitchFamily="2" charset="-18"/>
              <a:buChar char="–"/>
              <a:tabLst>
                <a:tab pos="0" algn="l"/>
              </a:tabLst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266700" indent="-90488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Lexend" pitchFamily="2" charset="-18"/>
              <a:buChar char="–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357188" indent="-90488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i="1" dirty="0" err="1">
                <a:solidFill>
                  <a:srgbClr val="00B050"/>
                </a:solidFill>
              </a:rPr>
              <a:t>instance</a:t>
            </a:r>
            <a:r>
              <a:rPr lang="pl-PL" i="1" dirty="0">
                <a:solidFill>
                  <a:srgbClr val="00B050"/>
                </a:solidFill>
              </a:rPr>
              <a:t> </a:t>
            </a:r>
            <a:r>
              <a:rPr lang="pl-PL" i="1" dirty="0" err="1">
                <a:solidFill>
                  <a:srgbClr val="00B050"/>
                </a:solidFill>
              </a:rPr>
              <a:t>specification</a:t>
            </a:r>
            <a:r>
              <a:rPr lang="pl-PL" i="1" dirty="0">
                <a:solidFill>
                  <a:srgbClr val="00B050"/>
                </a:solidFill>
              </a:rPr>
              <a:t> </a:t>
            </a:r>
            <a:endParaRPr lang="pl-PL" dirty="0">
              <a:solidFill>
                <a:srgbClr val="00B050"/>
              </a:solidFill>
            </a:endParaRPr>
          </a:p>
        </p:txBody>
      </p:sp>
      <p:cxnSp>
        <p:nvCxnSpPr>
          <p:cNvPr id="36" name="Łącznik prosty ze strzałką 35">
            <a:extLst>
              <a:ext uri="{FF2B5EF4-FFF2-40B4-BE49-F238E27FC236}">
                <a16:creationId xmlns:a16="http://schemas.microsoft.com/office/drawing/2014/main" id="{06673728-A162-04E4-CF57-9DEF98C742AC}"/>
              </a:ext>
            </a:extLst>
          </p:cNvPr>
          <p:cNvCxnSpPr>
            <a:cxnSpLocks/>
            <a:stCxn id="35" idx="1"/>
          </p:cNvCxnSpPr>
          <p:nvPr/>
        </p:nvCxnSpPr>
        <p:spPr>
          <a:xfrm flipH="1" flipV="1">
            <a:off x="2699792" y="3651870"/>
            <a:ext cx="675574" cy="79208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DDF7D600-BB7B-12FD-A461-34CFA2D0FB83}"/>
              </a:ext>
            </a:extLst>
          </p:cNvPr>
          <p:cNvCxnSpPr>
            <a:cxnSpLocks/>
            <a:stCxn id="35" idx="3"/>
          </p:cNvCxnSpPr>
          <p:nvPr/>
        </p:nvCxnSpPr>
        <p:spPr>
          <a:xfrm flipV="1">
            <a:off x="4953215" y="3403572"/>
            <a:ext cx="194849" cy="104038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3323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8EE1E65-DCBD-B9FA-37B1-14443BCF8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5466"/>
            <a:ext cx="8389056" cy="576064"/>
          </a:xfrm>
        </p:spPr>
        <p:txBody>
          <a:bodyPr/>
          <a:lstStyle/>
          <a:p>
            <a:r>
              <a:rPr lang="pl-PL" dirty="0"/>
              <a:t>Zasady identyfikacji klas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2E45F0C-4094-A493-8D49-468387963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7664" y="483518"/>
            <a:ext cx="7272807" cy="4176464"/>
          </a:xfrm>
        </p:spPr>
        <p:txBody>
          <a:bodyPr>
            <a:normAutofit lnSpcReduction="10000"/>
          </a:bodyPr>
          <a:lstStyle/>
          <a:p>
            <a:r>
              <a:rPr lang="pl-PL" b="1" dirty="0">
                <a:solidFill>
                  <a:srgbClr val="C00000"/>
                </a:solidFill>
              </a:rPr>
              <a:t>Zasada jednoznacznej odpowiedzialności</a:t>
            </a:r>
          </a:p>
          <a:p>
            <a:r>
              <a:rPr lang="pl-PL" dirty="0"/>
              <a:t>Klasa bierze „całościową odpowiedzialność” (</a:t>
            </a:r>
            <a:r>
              <a:rPr lang="pl-PL" i="1" dirty="0" err="1"/>
              <a:t>responsibility</a:t>
            </a:r>
            <a:r>
              <a:rPr lang="pl-PL" dirty="0"/>
              <a:t>) za obsługę pewnego zagadnienia, np. danych, działań i zachowania klienta, dokumentu, itp. </a:t>
            </a:r>
          </a:p>
          <a:p>
            <a:endParaRPr lang="pl-PL" dirty="0"/>
          </a:p>
          <a:p>
            <a:r>
              <a:rPr lang="pl-PL" b="1" dirty="0">
                <a:solidFill>
                  <a:srgbClr val="C00000"/>
                </a:solidFill>
              </a:rPr>
              <a:t>Zasada hermetyzacji (</a:t>
            </a:r>
            <a:r>
              <a:rPr lang="pl-PL" b="1" dirty="0">
                <a:solidFill>
                  <a:srgbClr val="C00000"/>
                </a:solidFill>
                <a:sym typeface="Wingdings" panose="05000000000000000000" pitchFamily="2" charset="2"/>
              </a:rPr>
              <a:t>enkapsulacji, kapsułkowania)</a:t>
            </a:r>
            <a:endParaRPr lang="pl-PL" b="1" dirty="0">
              <a:solidFill>
                <a:srgbClr val="C00000"/>
              </a:solidFill>
            </a:endParaRPr>
          </a:p>
          <a:p>
            <a:r>
              <a:rPr lang="pl-PL" dirty="0"/>
              <a:t>Klasa ukrywa wnętrze swych działań np. poprzez porty, interfejsy, rozdzielenie operacji i metod</a:t>
            </a:r>
          </a:p>
          <a:p>
            <a:r>
              <a:rPr lang="pl-PL" dirty="0"/>
              <a:t>Zmiany robione w klasie nie powinny wpływać na inne klasy.</a:t>
            </a:r>
          </a:p>
          <a:p>
            <a:endParaRPr lang="pl-PL" dirty="0"/>
          </a:p>
          <a:p>
            <a:r>
              <a:rPr lang="pl-PL" b="1" dirty="0">
                <a:solidFill>
                  <a:srgbClr val="C00000"/>
                </a:solidFill>
              </a:rPr>
              <a:t> Zasada </a:t>
            </a:r>
            <a:r>
              <a:rPr lang="pl-PL" b="1" dirty="0" err="1">
                <a:solidFill>
                  <a:srgbClr val="C00000"/>
                </a:solidFill>
              </a:rPr>
              <a:t>Liskov</a:t>
            </a:r>
            <a:endParaRPr lang="pl-PL" b="1" dirty="0">
              <a:solidFill>
                <a:srgbClr val="C00000"/>
              </a:solidFill>
            </a:endParaRPr>
          </a:p>
          <a:p>
            <a:r>
              <a:rPr lang="pl-PL" dirty="0"/>
              <a:t>Podtypy można przenieść w miejsce nad-typów zachowując poprawność modelu</a:t>
            </a:r>
          </a:p>
          <a:p>
            <a:endParaRPr lang="pl-PL" dirty="0"/>
          </a:p>
          <a:p>
            <a:r>
              <a:rPr lang="pl-PL" b="1" dirty="0">
                <a:solidFill>
                  <a:srgbClr val="C00000"/>
                </a:solidFill>
              </a:rPr>
              <a:t>Zasada minimalizacji interfejsów</a:t>
            </a:r>
          </a:p>
          <a:p>
            <a:r>
              <a:rPr lang="pl-PL" dirty="0"/>
              <a:t>minimalizuj wywołania pomiędzy klasami i modułami (</a:t>
            </a:r>
            <a:r>
              <a:rPr lang="pl-PL" i="1" dirty="0" err="1"/>
              <a:t>coupling</a:t>
            </a:r>
            <a:r>
              <a:rPr lang="pl-PL" dirty="0"/>
              <a:t>) maksymalizując połączenia wewnątrz nich (</a:t>
            </a:r>
            <a:r>
              <a:rPr lang="pl-PL" i="1" dirty="0" err="1"/>
              <a:t>cohesion</a:t>
            </a:r>
            <a:r>
              <a:rPr lang="pl-PL" dirty="0"/>
              <a:t>)</a:t>
            </a:r>
          </a:p>
          <a:p>
            <a:endParaRPr lang="pl-PL" dirty="0"/>
          </a:p>
          <a:p>
            <a:r>
              <a:rPr lang="pl-PL" b="1" dirty="0">
                <a:solidFill>
                  <a:srgbClr val="C00000"/>
                </a:solidFill>
              </a:rPr>
              <a:t>Zasada delegacji</a:t>
            </a:r>
          </a:p>
          <a:p>
            <a:r>
              <a:rPr lang="pl-PL" dirty="0"/>
              <a:t>Nie proś o informację, której potrzebujesz, tylko zażądaj wykonania operacji przez obiekt, który tę informację posiada.</a:t>
            </a:r>
          </a:p>
          <a:p>
            <a:endParaRPr lang="pl-PL" dirty="0"/>
          </a:p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D210780-DE33-6D4A-F348-C465C269B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37149" y="4587974"/>
            <a:ext cx="866651" cy="144016"/>
          </a:xfrm>
        </p:spPr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25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B65A181-73F3-8F3A-D91E-311A4AF893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64499" y="4566158"/>
            <a:ext cx="890253" cy="165832"/>
          </a:xfrm>
        </p:spPr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386E602-4AB9-85F2-19BD-4C4C6E91B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9000" y="4587974"/>
            <a:ext cx="1836936" cy="144016"/>
          </a:xfrm>
        </p:spPr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0154022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3F648EC-66BB-8832-D5AC-A8F06142A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23478"/>
            <a:ext cx="8389056" cy="468051"/>
          </a:xfrm>
        </p:spPr>
        <p:txBody>
          <a:bodyPr/>
          <a:lstStyle/>
          <a:p>
            <a:r>
              <a:rPr lang="pl-PL" dirty="0"/>
              <a:t>Pakiet (</a:t>
            </a:r>
            <a:r>
              <a:rPr lang="pl-PL" i="1" dirty="0" err="1"/>
              <a:t>Package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5B9F239-339D-822B-B17B-0A6BF6D1E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5656" y="627533"/>
            <a:ext cx="7560840" cy="1386371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rgbClr val="00B050"/>
                </a:solidFill>
              </a:rPr>
              <a:t>Pakiet</a:t>
            </a:r>
            <a:r>
              <a:rPr lang="pl-PL" dirty="0"/>
              <a:t> = element służący do organizacji (lepszej strukturalizacji) modelu; zwykle nie ma interpretacji </a:t>
            </a:r>
            <a:br>
              <a:rPr lang="pl-PL" dirty="0"/>
            </a:br>
            <a:r>
              <a:rPr lang="pl-PL" dirty="0"/>
              <a:t>w modelowanej rzeczywistości. Pakiety mogą być zagnieżdżane jedne w drugich.</a:t>
            </a:r>
          </a:p>
          <a:p>
            <a:r>
              <a:rPr lang="pl-PL" dirty="0"/>
              <a:t>Pakiet jest </a:t>
            </a:r>
            <a:r>
              <a:rPr lang="pl-PL" dirty="0">
                <a:solidFill>
                  <a:srgbClr val="00B050"/>
                </a:solidFill>
              </a:rPr>
              <a:t>przestrzenią nazw (</a:t>
            </a:r>
            <a:r>
              <a:rPr lang="pl-PL" i="1" dirty="0" err="1">
                <a:solidFill>
                  <a:srgbClr val="00B050"/>
                </a:solidFill>
              </a:rPr>
              <a:t>name</a:t>
            </a:r>
            <a:r>
              <a:rPr lang="pl-PL" i="1" dirty="0">
                <a:solidFill>
                  <a:srgbClr val="00B050"/>
                </a:solidFill>
              </a:rPr>
              <a:t> </a:t>
            </a:r>
            <a:r>
              <a:rPr lang="pl-PL" i="1" dirty="0" err="1">
                <a:solidFill>
                  <a:srgbClr val="00B050"/>
                </a:solidFill>
              </a:rPr>
              <a:t>space</a:t>
            </a:r>
            <a:r>
              <a:rPr lang="pl-PL" dirty="0">
                <a:solidFill>
                  <a:srgbClr val="00B050"/>
                </a:solidFill>
              </a:rPr>
              <a:t>) </a:t>
            </a:r>
            <a:r>
              <a:rPr lang="pl-PL" dirty="0"/>
              <a:t>tzn. </a:t>
            </a:r>
          </a:p>
          <a:p>
            <a:pPr marL="290512" indent="-285750">
              <a:buFont typeface="Arial" panose="020B0604020202020204" pitchFamily="34" charset="0"/>
              <a:buChar char="•"/>
            </a:pPr>
            <a:r>
              <a:rPr lang="pl-PL" dirty="0"/>
              <a:t>nazwy występujące w pakiecie muszą być unikalne</a:t>
            </a:r>
          </a:p>
          <a:p>
            <a:pPr marL="290512" indent="-285750">
              <a:buFont typeface="Arial" panose="020B0604020202020204" pitchFamily="34" charset="0"/>
              <a:buChar char="•"/>
            </a:pPr>
            <a:r>
              <a:rPr lang="pl-PL" dirty="0"/>
              <a:t>nazwa pakietu jest składową </a:t>
            </a:r>
            <a:r>
              <a:rPr lang="pl-PL" dirty="0">
                <a:solidFill>
                  <a:srgbClr val="00B050"/>
                </a:solidFill>
              </a:rPr>
              <a:t>pełnej nazwy (= ścieżkowej nazwy) </a:t>
            </a:r>
            <a:r>
              <a:rPr lang="pl-PL" dirty="0"/>
              <a:t>elementu, </a:t>
            </a:r>
            <a:br>
              <a:rPr lang="pl-PL" dirty="0"/>
            </a:br>
            <a:r>
              <a:rPr lang="pl-PL" dirty="0"/>
              <a:t>np. </a:t>
            </a:r>
            <a:r>
              <a:rPr lang="pl-PL" dirty="0" err="1">
                <a:solidFill>
                  <a:srgbClr val="C00000"/>
                </a:solidFill>
              </a:rPr>
              <a:t>Clients</a:t>
            </a:r>
            <a:r>
              <a:rPr lang="pl-PL" dirty="0">
                <a:solidFill>
                  <a:srgbClr val="C00000"/>
                </a:solidFill>
              </a:rPr>
              <a:t> :: </a:t>
            </a:r>
            <a:r>
              <a:rPr lang="pl-PL" dirty="0" err="1">
                <a:solidFill>
                  <a:srgbClr val="C00000"/>
                </a:solidFill>
              </a:rPr>
              <a:t>Individual</a:t>
            </a:r>
            <a:r>
              <a:rPr lang="pl-PL" dirty="0">
                <a:solidFill>
                  <a:srgbClr val="C00000"/>
                </a:solidFill>
              </a:rPr>
              <a:t> </a:t>
            </a:r>
            <a:r>
              <a:rPr lang="pl-PL" dirty="0" err="1">
                <a:solidFill>
                  <a:srgbClr val="C00000"/>
                </a:solidFill>
              </a:rPr>
              <a:t>clients</a:t>
            </a:r>
            <a:r>
              <a:rPr lang="pl-PL" dirty="0">
                <a:solidFill>
                  <a:srgbClr val="C00000"/>
                </a:solidFill>
              </a:rPr>
              <a:t> :: </a:t>
            </a:r>
            <a:r>
              <a:rPr lang="pl-PL" dirty="0" err="1">
                <a:solidFill>
                  <a:srgbClr val="C00000"/>
                </a:solidFill>
              </a:rPr>
              <a:t>asses</a:t>
            </a:r>
            <a:r>
              <a:rPr lang="pl-PL" dirty="0">
                <a:solidFill>
                  <a:srgbClr val="C00000"/>
                </a:solidFill>
              </a:rPr>
              <a:t> the </a:t>
            </a:r>
            <a:r>
              <a:rPr lang="pl-PL" dirty="0" err="1">
                <a:solidFill>
                  <a:srgbClr val="C00000"/>
                </a:solidFill>
              </a:rPr>
              <a:t>client</a:t>
            </a:r>
            <a:endParaRPr lang="pl-PL" dirty="0">
              <a:solidFill>
                <a:srgbClr val="C00000"/>
              </a:solidFill>
            </a:endParaRP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C7FDCA0-0C40-C6C0-DA4D-EA9067C7E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26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39C9B10-FF2A-EB29-03C7-D1682DB985E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29FCD06-64B0-906E-2156-9E38F53CE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E2ADE665-3EC8-1EFB-4021-03969E5EE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2139702"/>
            <a:ext cx="5311626" cy="2284889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FF088900-5C52-C32F-5E54-F06FDA2B7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767" y="2101750"/>
            <a:ext cx="2960713" cy="234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7674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Obraz 25">
            <a:extLst>
              <a:ext uri="{FF2B5EF4-FFF2-40B4-BE49-F238E27FC236}">
                <a16:creationId xmlns:a16="http://schemas.microsoft.com/office/drawing/2014/main" id="{95B00A75-DB38-88EE-DBAE-0E887F942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982347"/>
            <a:ext cx="7919032" cy="151811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8D065ACA-319C-59F9-A84B-F795EDF30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95486"/>
            <a:ext cx="8857108" cy="576064"/>
          </a:xfrm>
        </p:spPr>
        <p:txBody>
          <a:bodyPr>
            <a:normAutofit/>
          </a:bodyPr>
          <a:lstStyle/>
          <a:p>
            <a:r>
              <a:rPr lang="pl-PL" dirty="0"/>
              <a:t>Pakiety wyrażające model główny i </a:t>
            </a:r>
            <a:r>
              <a:rPr lang="pl-PL" dirty="0" err="1"/>
              <a:t>podmodele</a:t>
            </a:r>
            <a:r>
              <a:rPr lang="pl-PL" dirty="0"/>
              <a:t> – wg etapów projektu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70A55EC-889E-B18A-43DE-EE2E39F2D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9653" y="699542"/>
            <a:ext cx="7560840" cy="885564"/>
          </a:xfrm>
        </p:spPr>
        <p:txBody>
          <a:bodyPr>
            <a:normAutofit lnSpcReduction="10000"/>
          </a:bodyPr>
          <a:lstStyle/>
          <a:p>
            <a:r>
              <a:rPr lang="pl-PL" dirty="0"/>
              <a:t>UML modeluje rzeczywistość w postaci zestawu elementów powiązanych w formie drzewa.</a:t>
            </a:r>
          </a:p>
          <a:p>
            <a:r>
              <a:rPr lang="pl-PL" dirty="0"/>
              <a:t>Korzeń drzewa jest </a:t>
            </a:r>
            <a:r>
              <a:rPr lang="pl-PL" u="sng" dirty="0"/>
              <a:t>pakietem</a:t>
            </a:r>
            <a:r>
              <a:rPr lang="pl-PL" dirty="0"/>
              <a:t> zwanym </a:t>
            </a:r>
            <a:r>
              <a:rPr lang="pl-PL" dirty="0">
                <a:solidFill>
                  <a:srgbClr val="00B050"/>
                </a:solidFill>
              </a:rPr>
              <a:t>modelem</a:t>
            </a:r>
            <a:r>
              <a:rPr lang="pl-PL" dirty="0"/>
              <a:t>. </a:t>
            </a:r>
          </a:p>
          <a:p>
            <a:r>
              <a:rPr lang="pl-PL" dirty="0"/>
              <a:t>Na taki model główny,  składają się bezpośrednio </a:t>
            </a:r>
            <a:r>
              <a:rPr lang="pl-PL" u="sng" dirty="0"/>
              <a:t>pakiety</a:t>
            </a:r>
            <a:r>
              <a:rPr lang="pl-PL" dirty="0"/>
              <a:t> zwane także </a:t>
            </a:r>
            <a:r>
              <a:rPr lang="pl-PL" dirty="0">
                <a:solidFill>
                  <a:srgbClr val="00B050"/>
                </a:solidFill>
              </a:rPr>
              <a:t>(pod)modelami</a:t>
            </a:r>
            <a:r>
              <a:rPr lang="pl-PL" dirty="0"/>
              <a:t> albo </a:t>
            </a:r>
            <a:r>
              <a:rPr lang="pl-PL" dirty="0">
                <a:solidFill>
                  <a:srgbClr val="00B050"/>
                </a:solidFill>
              </a:rPr>
              <a:t>widokami (</a:t>
            </a:r>
            <a:r>
              <a:rPr lang="pl-PL" i="1" dirty="0" err="1">
                <a:solidFill>
                  <a:srgbClr val="00B050"/>
                </a:solidFill>
              </a:rPr>
              <a:t>view</a:t>
            </a:r>
            <a:r>
              <a:rPr lang="pl-PL" dirty="0">
                <a:solidFill>
                  <a:srgbClr val="00B050"/>
                </a:solidFill>
              </a:rPr>
              <a:t>)</a:t>
            </a:r>
            <a:r>
              <a:rPr lang="pl-PL" dirty="0"/>
              <a:t>, przedstawiające modelowaną rzeczywistość z różnych perspektyw.</a:t>
            </a:r>
          </a:p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D166421-8F94-866D-ADF9-0BF1B5E42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27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98DA41A-9AD9-DFE0-75DE-6FECEEAD97A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E41D073-28DF-4B4E-85FA-A29CA805E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  <p:sp>
        <p:nvSpPr>
          <p:cNvPr id="9" name="Symbol zastępczy zawartości 2">
            <a:extLst>
              <a:ext uri="{FF2B5EF4-FFF2-40B4-BE49-F238E27FC236}">
                <a16:creationId xmlns:a16="http://schemas.microsoft.com/office/drawing/2014/main" id="{D7142992-6689-78CE-3003-E2F5952DB831}"/>
              </a:ext>
            </a:extLst>
          </p:cNvPr>
          <p:cNvSpPr txBox="1">
            <a:spLocks/>
          </p:cNvSpPr>
          <p:nvPr/>
        </p:nvSpPr>
        <p:spPr>
          <a:xfrm>
            <a:off x="4416859" y="1621111"/>
            <a:ext cx="1091245" cy="29443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762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Tx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0488" indent="-90488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Lexend" pitchFamily="2" charset="-18"/>
              <a:buChar char="–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80975" indent="-85725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Lexend" pitchFamily="2" charset="-18"/>
              <a:buChar char="–"/>
              <a:tabLst>
                <a:tab pos="0" algn="l"/>
              </a:tabLst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266700" indent="-90488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Lexend" pitchFamily="2" charset="-18"/>
              <a:buChar char="–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357188" indent="-90488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>
                <a:solidFill>
                  <a:srgbClr val="00B050"/>
                </a:solidFill>
              </a:rPr>
              <a:t> model główny</a:t>
            </a:r>
          </a:p>
        </p:txBody>
      </p:sp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EB4E48E4-49F1-EFFF-572D-56BD07672EE8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3275856" y="1768327"/>
            <a:ext cx="1141003" cy="54445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ymbol zastępczy zawartości 2">
            <a:extLst>
              <a:ext uri="{FF2B5EF4-FFF2-40B4-BE49-F238E27FC236}">
                <a16:creationId xmlns:a16="http://schemas.microsoft.com/office/drawing/2014/main" id="{58B054AB-973C-F749-A774-96141EF35BF0}"/>
              </a:ext>
            </a:extLst>
          </p:cNvPr>
          <p:cNvSpPr txBox="1">
            <a:spLocks/>
          </p:cNvSpPr>
          <p:nvPr/>
        </p:nvSpPr>
        <p:spPr>
          <a:xfrm>
            <a:off x="3635897" y="3982652"/>
            <a:ext cx="1584176" cy="29443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762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Tx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0488" indent="-90488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Lexend" pitchFamily="2" charset="-18"/>
              <a:buChar char="–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80975" indent="-85725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Lexend" pitchFamily="2" charset="-18"/>
              <a:buChar char="–"/>
              <a:tabLst>
                <a:tab pos="0" algn="l"/>
              </a:tabLst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266700" indent="-90488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Lexend" pitchFamily="2" charset="-18"/>
              <a:buChar char="–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357188" indent="-90488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>
                <a:solidFill>
                  <a:srgbClr val="00B050"/>
                </a:solidFill>
              </a:rPr>
              <a:t>  widoki (</a:t>
            </a:r>
            <a:r>
              <a:rPr lang="pl-PL" dirty="0" err="1">
                <a:solidFill>
                  <a:srgbClr val="00B050"/>
                </a:solidFill>
              </a:rPr>
              <a:t>podmodele</a:t>
            </a:r>
            <a:r>
              <a:rPr lang="pl-PL" dirty="0">
                <a:solidFill>
                  <a:srgbClr val="00B050"/>
                </a:solidFill>
              </a:rPr>
              <a:t>)</a:t>
            </a:r>
          </a:p>
        </p:txBody>
      </p: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7AD71AB5-10E1-E00E-D329-EEBC540BE277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2411760" y="3075806"/>
            <a:ext cx="1224137" cy="105406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45ED2001-E1A8-1F18-5D3C-0614DBD45C84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5220073" y="3075806"/>
            <a:ext cx="2016223" cy="105406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Łącznik prosty ze strzałką 22">
            <a:extLst>
              <a:ext uri="{FF2B5EF4-FFF2-40B4-BE49-F238E27FC236}">
                <a16:creationId xmlns:a16="http://schemas.microsoft.com/office/drawing/2014/main" id="{52860100-A644-8D21-0F9F-A98EEE86EA8D}"/>
              </a:ext>
            </a:extLst>
          </p:cNvPr>
          <p:cNvCxnSpPr>
            <a:cxnSpLocks/>
          </p:cNvCxnSpPr>
          <p:nvPr/>
        </p:nvCxnSpPr>
        <p:spPr>
          <a:xfrm flipV="1">
            <a:off x="4441974" y="3075806"/>
            <a:ext cx="0" cy="92482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01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3589846-BE5A-5227-A3A3-3398E2858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23478"/>
            <a:ext cx="8964612" cy="576064"/>
          </a:xfrm>
        </p:spPr>
        <p:txBody>
          <a:bodyPr>
            <a:normAutofit/>
          </a:bodyPr>
          <a:lstStyle/>
          <a:p>
            <a:r>
              <a:rPr lang="pl-PL" dirty="0"/>
              <a:t>Pakiety wyrażające model główny i </a:t>
            </a:r>
            <a:r>
              <a:rPr lang="pl-PL" dirty="0" err="1"/>
              <a:t>podmodele</a:t>
            </a:r>
            <a:r>
              <a:rPr lang="pl-PL" dirty="0"/>
              <a:t> – wg warstw architektury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105B570-832E-9B00-9370-760077988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28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96C4D9F-299C-2B01-6C53-3D4FEB78E2B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E6C97FC8-E47C-4790-4CBD-72621BB3E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0CE2AA90-A75F-8A22-1CB1-C461B2D47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334" y="571299"/>
            <a:ext cx="2520280" cy="395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63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81DAABD-0297-FC43-0DBC-27495EDB9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Diagram sekwencji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2A31126-3A94-6589-EB99-33414C9F2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404" y="772145"/>
            <a:ext cx="2880320" cy="3995849"/>
          </a:xfrm>
        </p:spPr>
        <p:txBody>
          <a:bodyPr>
            <a:normAutofit lnSpcReduction="10000"/>
          </a:bodyPr>
          <a:lstStyle/>
          <a:p>
            <a:r>
              <a:rPr lang="pl-PL" dirty="0">
                <a:solidFill>
                  <a:srgbClr val="00B050"/>
                </a:solidFill>
              </a:rPr>
              <a:t>Linie życia </a:t>
            </a:r>
            <a:r>
              <a:rPr lang="pl-PL" dirty="0"/>
              <a:t>dotyczą obiektów (a nie klas).</a:t>
            </a:r>
          </a:p>
          <a:p>
            <a:endParaRPr lang="pl-PL" dirty="0"/>
          </a:p>
          <a:p>
            <a:r>
              <a:rPr lang="pl-PL" dirty="0"/>
              <a:t>Pomiędzy liniami życia przesyłane </a:t>
            </a:r>
            <a:br>
              <a:rPr lang="pl-PL" dirty="0"/>
            </a:br>
            <a:r>
              <a:rPr lang="pl-PL" dirty="0"/>
              <a:t>są </a:t>
            </a:r>
            <a:r>
              <a:rPr lang="pl-PL" dirty="0">
                <a:solidFill>
                  <a:srgbClr val="00B050"/>
                </a:solidFill>
              </a:rPr>
              <a:t>komunikaty (</a:t>
            </a:r>
            <a:r>
              <a:rPr lang="pl-PL" i="1" dirty="0" err="1">
                <a:solidFill>
                  <a:srgbClr val="00B050"/>
                </a:solidFill>
              </a:rPr>
              <a:t>messages</a:t>
            </a:r>
            <a:r>
              <a:rPr lang="pl-PL" dirty="0">
                <a:solidFill>
                  <a:srgbClr val="00B050"/>
                </a:solidFill>
              </a:rPr>
              <a:t>), </a:t>
            </a:r>
            <a:r>
              <a:rPr lang="pl-PL" dirty="0"/>
              <a:t>które są </a:t>
            </a:r>
            <a:br>
              <a:rPr lang="pl-PL" dirty="0"/>
            </a:br>
            <a:r>
              <a:rPr lang="pl-PL" dirty="0"/>
              <a:t>sygnaturami działań. Mogą być </a:t>
            </a:r>
          </a:p>
          <a:p>
            <a:pPr marL="290512" indent="-285750">
              <a:buFont typeface="Arial" panose="020B0604020202020204" pitchFamily="34" charset="0"/>
              <a:buChar char="•"/>
            </a:pPr>
            <a:r>
              <a:rPr lang="pl-PL" dirty="0">
                <a:solidFill>
                  <a:srgbClr val="C00000"/>
                </a:solidFill>
              </a:rPr>
              <a:t>synchroniczne </a:t>
            </a:r>
            <a:r>
              <a:rPr lang="pl-PL" dirty="0"/>
              <a:t>(z ew. odpowiedzią)</a:t>
            </a:r>
          </a:p>
          <a:p>
            <a:pPr marL="290512" indent="-285750">
              <a:buFont typeface="Arial" panose="020B0604020202020204" pitchFamily="34" charset="0"/>
              <a:buChar char="•"/>
            </a:pPr>
            <a:r>
              <a:rPr lang="pl-PL" dirty="0">
                <a:solidFill>
                  <a:srgbClr val="C00000"/>
                </a:solidFill>
              </a:rPr>
              <a:t>asynchroniczne.</a:t>
            </a:r>
          </a:p>
          <a:p>
            <a:r>
              <a:rPr lang="pl-PL" dirty="0"/>
              <a:t>Komunikaty mogą mieć parametry.</a:t>
            </a:r>
          </a:p>
          <a:p>
            <a:endParaRPr lang="pl-PL" dirty="0"/>
          </a:p>
          <a:p>
            <a:r>
              <a:rPr lang="pl-PL" dirty="0">
                <a:solidFill>
                  <a:srgbClr val="00B050"/>
                </a:solidFill>
              </a:rPr>
              <a:t>Komunikaty znalezione (</a:t>
            </a:r>
            <a:r>
              <a:rPr lang="pl-PL" i="1" dirty="0" err="1">
                <a:solidFill>
                  <a:srgbClr val="00B050"/>
                </a:solidFill>
              </a:rPr>
              <a:t>lost</a:t>
            </a:r>
            <a:r>
              <a:rPr lang="pl-PL" i="1" dirty="0">
                <a:solidFill>
                  <a:srgbClr val="00B050"/>
                </a:solidFill>
              </a:rPr>
              <a:t> </a:t>
            </a:r>
            <a:r>
              <a:rPr lang="pl-PL" i="1" dirty="0" err="1">
                <a:solidFill>
                  <a:srgbClr val="00B050"/>
                </a:solidFill>
              </a:rPr>
              <a:t>messages</a:t>
            </a:r>
            <a:r>
              <a:rPr lang="pl-PL" dirty="0">
                <a:solidFill>
                  <a:srgbClr val="00B050"/>
                </a:solidFill>
              </a:rPr>
              <a:t>)</a:t>
            </a:r>
            <a:r>
              <a:rPr lang="pl-PL" dirty="0"/>
              <a:t> </a:t>
            </a:r>
            <a:br>
              <a:rPr lang="pl-PL" dirty="0"/>
            </a:br>
            <a:r>
              <a:rPr lang="pl-PL" dirty="0"/>
              <a:t>= zaczynają się na czarnej kropce a nie </a:t>
            </a:r>
            <a:br>
              <a:rPr lang="pl-PL" dirty="0"/>
            </a:br>
            <a:r>
              <a:rPr lang="pl-PL" dirty="0"/>
              <a:t>na linii życia (unikamy wskazania</a:t>
            </a:r>
            <a:br>
              <a:rPr lang="pl-PL" dirty="0"/>
            </a:br>
            <a:r>
              <a:rPr lang="pl-PL" dirty="0"/>
              <a:t>nadawcy).</a:t>
            </a:r>
          </a:p>
          <a:p>
            <a:endParaRPr lang="pl-PL" dirty="0"/>
          </a:p>
          <a:p>
            <a:r>
              <a:rPr lang="pl-PL" dirty="0">
                <a:solidFill>
                  <a:srgbClr val="00B050"/>
                </a:solidFill>
              </a:rPr>
              <a:t>Komunikaty zgubione (</a:t>
            </a:r>
            <a:r>
              <a:rPr lang="pl-PL" i="1" dirty="0" err="1">
                <a:solidFill>
                  <a:srgbClr val="00B050"/>
                </a:solidFill>
              </a:rPr>
              <a:t>lost</a:t>
            </a:r>
            <a:r>
              <a:rPr lang="pl-PL" i="1" dirty="0">
                <a:solidFill>
                  <a:srgbClr val="00B050"/>
                </a:solidFill>
              </a:rPr>
              <a:t> </a:t>
            </a:r>
            <a:r>
              <a:rPr lang="pl-PL" i="1" dirty="0" err="1">
                <a:solidFill>
                  <a:srgbClr val="00B050"/>
                </a:solidFill>
              </a:rPr>
              <a:t>messages</a:t>
            </a:r>
            <a:r>
              <a:rPr lang="pl-PL" dirty="0">
                <a:solidFill>
                  <a:srgbClr val="00B050"/>
                </a:solidFill>
              </a:rPr>
              <a:t>)</a:t>
            </a:r>
            <a:br>
              <a:rPr lang="pl-PL" dirty="0"/>
            </a:br>
            <a:r>
              <a:rPr lang="pl-PL" dirty="0"/>
              <a:t>= kończą się na czarnej kropce</a:t>
            </a:r>
            <a:br>
              <a:rPr lang="pl-PL" dirty="0"/>
            </a:br>
            <a:r>
              <a:rPr lang="pl-PL" dirty="0"/>
              <a:t>(unikamy wskazania odbiorcy).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9A5520D-858F-9020-E551-FE975624D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29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D17D2F5-1C7F-461B-3642-FC017674D1E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B3F6D57-B4F6-D978-C9EE-7385D0779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BBCD05F9-E404-D80C-507A-0240F75F9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920" y="0"/>
            <a:ext cx="508272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3342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23EB260-54E7-E403-0418-2BA30C2F2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Diagram przeglądu interakcji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8CE5E87-C2B5-7345-699B-C5958D4E0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5657" y="842963"/>
            <a:ext cx="3240360" cy="3709007"/>
          </a:xfrm>
        </p:spPr>
        <p:txBody>
          <a:bodyPr/>
          <a:lstStyle/>
          <a:p>
            <a:r>
              <a:rPr lang="pl-PL" dirty="0"/>
              <a:t>Diagram przeglądu interakcji jest używany dla uproszczenia diagramów sekwencji</a:t>
            </a:r>
          </a:p>
          <a:p>
            <a:endParaRPr lang="pl-PL" dirty="0"/>
          </a:p>
          <a:p>
            <a:r>
              <a:rPr lang="pl-PL" dirty="0"/>
              <a:t>Jest prosty diagram aktywności, w którym wierzchołki są interpretowane jako odwołania do diagramów sekwencji.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7D383D5-AE92-AAD6-84F4-CBF6D5E09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30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38879CC-C0F4-81EC-D3B9-4A05736D7B3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863BBAD-552F-1DD1-8208-209B4A621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2E8CDD85-D5FF-E740-4BFB-A6E5E905E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008" y="545890"/>
            <a:ext cx="4405029" cy="434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3620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23EB260-54E7-E403-0418-2BA30C2F2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51470"/>
            <a:ext cx="8389056" cy="576064"/>
          </a:xfrm>
        </p:spPr>
        <p:txBody>
          <a:bodyPr/>
          <a:lstStyle/>
          <a:p>
            <a:r>
              <a:rPr lang="pl-PL" dirty="0"/>
              <a:t>Diagram sekwencji: </a:t>
            </a:r>
            <a:r>
              <a:rPr lang="pl-PL" dirty="0" err="1"/>
              <a:t>client</a:t>
            </a:r>
            <a:r>
              <a:rPr lang="pl-PL" dirty="0"/>
              <a:t> </a:t>
            </a:r>
            <a:r>
              <a:rPr lang="pl-PL" dirty="0" err="1"/>
              <a:t>puts</a:t>
            </a:r>
            <a:r>
              <a:rPr lang="pl-PL" dirty="0"/>
              <a:t> order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7D383D5-AE92-AAD6-84F4-CBF6D5E09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31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38879CC-C0F4-81EC-D3B9-4A05736D7B3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863BBAD-552F-1DD1-8208-209B4A621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2E8CDD85-D5FF-E740-4BFB-A6E5E905E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534" y="777391"/>
            <a:ext cx="3787490" cy="3738575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DB8C6F93-23E8-0174-06CC-9C6C0621A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7004" y="438653"/>
            <a:ext cx="2504622" cy="4304189"/>
          </a:xfrm>
          <a:prstGeom prst="rect">
            <a:avLst/>
          </a:prstGeom>
        </p:spPr>
      </p:pic>
      <p:cxnSp>
        <p:nvCxnSpPr>
          <p:cNvPr id="13" name="Łącznik prosty ze strzałką 12">
            <a:extLst>
              <a:ext uri="{FF2B5EF4-FFF2-40B4-BE49-F238E27FC236}">
                <a16:creationId xmlns:a16="http://schemas.microsoft.com/office/drawing/2014/main" id="{E9088765-1F9D-6454-5597-41B1FCD8A247}"/>
              </a:ext>
            </a:extLst>
          </p:cNvPr>
          <p:cNvCxnSpPr>
            <a:cxnSpLocks/>
          </p:cNvCxnSpPr>
          <p:nvPr/>
        </p:nvCxnSpPr>
        <p:spPr>
          <a:xfrm>
            <a:off x="3059832" y="987574"/>
            <a:ext cx="2277172" cy="27143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ymbol zastępczy zawartości 17">
            <a:extLst>
              <a:ext uri="{FF2B5EF4-FFF2-40B4-BE49-F238E27FC236}">
                <a16:creationId xmlns:a16="http://schemas.microsoft.com/office/drawing/2014/main" id="{DA53E868-A60B-338D-B7EF-3F0AD5B76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545087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23EB260-54E7-E403-0418-2BA30C2F2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51470"/>
            <a:ext cx="8389056" cy="576064"/>
          </a:xfrm>
        </p:spPr>
        <p:txBody>
          <a:bodyPr/>
          <a:lstStyle/>
          <a:p>
            <a:r>
              <a:rPr lang="pl-PL" dirty="0"/>
              <a:t>Diagram sekwencji: PM </a:t>
            </a:r>
            <a:r>
              <a:rPr lang="pl-PL" dirty="0" err="1"/>
              <a:t>analyses</a:t>
            </a:r>
            <a:r>
              <a:rPr lang="pl-PL" dirty="0"/>
              <a:t> order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8CE5E87-C2B5-7345-699B-C5958D4E0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731" y="4069065"/>
            <a:ext cx="3240360" cy="576064"/>
          </a:xfrm>
        </p:spPr>
        <p:txBody>
          <a:bodyPr/>
          <a:lstStyle/>
          <a:p>
            <a:r>
              <a:rPr lang="pl-PL" dirty="0"/>
              <a:t>z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7D383D5-AE92-AAD6-84F4-CBF6D5E09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32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38879CC-C0F4-81EC-D3B9-4A05736D7B3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863BBAD-552F-1DD1-8208-209B4A621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2E8CDD85-D5FF-E740-4BFB-A6E5E905E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66" y="783611"/>
            <a:ext cx="3787490" cy="3738575"/>
          </a:xfrm>
          <a:prstGeom prst="rect">
            <a:avLst/>
          </a:prstGeom>
        </p:spPr>
      </p:pic>
      <p:cxnSp>
        <p:nvCxnSpPr>
          <p:cNvPr id="13" name="Łącznik prosty ze strzałką 12">
            <a:extLst>
              <a:ext uri="{FF2B5EF4-FFF2-40B4-BE49-F238E27FC236}">
                <a16:creationId xmlns:a16="http://schemas.microsoft.com/office/drawing/2014/main" id="{E9088765-1F9D-6454-5597-41B1FCD8A247}"/>
              </a:ext>
            </a:extLst>
          </p:cNvPr>
          <p:cNvCxnSpPr>
            <a:cxnSpLocks/>
          </p:cNvCxnSpPr>
          <p:nvPr/>
        </p:nvCxnSpPr>
        <p:spPr>
          <a:xfrm>
            <a:off x="3770895" y="2499742"/>
            <a:ext cx="603145" cy="0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Obraz 9">
            <a:extLst>
              <a:ext uri="{FF2B5EF4-FFF2-40B4-BE49-F238E27FC236}">
                <a16:creationId xmlns:a16="http://schemas.microsoft.com/office/drawing/2014/main" id="{2FB11746-4221-D83A-51AD-DB5154025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869" y="1564633"/>
            <a:ext cx="4463579" cy="2244446"/>
          </a:xfrm>
          <a:prstGeom prst="rect">
            <a:avLst/>
          </a:prstGeom>
        </p:spPr>
      </p:pic>
      <p:pic>
        <p:nvPicPr>
          <p:cNvPr id="16" name="Obraz 15">
            <a:extLst>
              <a:ext uri="{FF2B5EF4-FFF2-40B4-BE49-F238E27FC236}">
                <a16:creationId xmlns:a16="http://schemas.microsoft.com/office/drawing/2014/main" id="{DD4B22D4-4206-8A7B-1D63-77D5C9D585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952" y="915566"/>
            <a:ext cx="4899347" cy="698403"/>
          </a:xfrm>
          <a:prstGeom prst="rect">
            <a:avLst/>
          </a:prstGeom>
        </p:spPr>
      </p:pic>
      <p:sp>
        <p:nvSpPr>
          <p:cNvPr id="17" name="pole tekstowe 16">
            <a:extLst>
              <a:ext uri="{FF2B5EF4-FFF2-40B4-BE49-F238E27FC236}">
                <a16:creationId xmlns:a16="http://schemas.microsoft.com/office/drawing/2014/main" id="{EA81E023-CB0A-5AEE-B58D-3CC021002940}"/>
              </a:ext>
            </a:extLst>
          </p:cNvPr>
          <p:cNvSpPr txBox="1"/>
          <p:nvPr/>
        </p:nvSpPr>
        <p:spPr>
          <a:xfrm>
            <a:off x="4572000" y="4069065"/>
            <a:ext cx="4176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>
                <a:solidFill>
                  <a:schemeClr val="tx2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Inne operatory to: </a:t>
            </a:r>
            <a:r>
              <a:rPr lang="en-US" sz="1400" dirty="0">
                <a:solidFill>
                  <a:srgbClr val="C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break, parallel, ref</a:t>
            </a:r>
            <a:endParaRPr lang="pl-PL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0640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23EB260-54E7-E403-0418-2BA30C2F2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51470"/>
            <a:ext cx="8389056" cy="576064"/>
          </a:xfrm>
        </p:spPr>
        <p:txBody>
          <a:bodyPr/>
          <a:lstStyle/>
          <a:p>
            <a:r>
              <a:rPr lang="pl-PL" dirty="0"/>
              <a:t>Diagram sekwencji: PM </a:t>
            </a:r>
            <a:r>
              <a:rPr lang="pl-PL" dirty="0" err="1"/>
              <a:t>analyses</a:t>
            </a:r>
            <a:r>
              <a:rPr lang="pl-PL" dirty="0"/>
              <a:t> order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8CE5E87-C2B5-7345-699B-C5958D4E0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731" y="4069065"/>
            <a:ext cx="3240360" cy="576064"/>
          </a:xfrm>
        </p:spPr>
        <p:txBody>
          <a:bodyPr/>
          <a:lstStyle/>
          <a:p>
            <a:r>
              <a:rPr lang="pl-PL" dirty="0"/>
              <a:t>z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7D383D5-AE92-AAD6-84F4-CBF6D5E09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33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38879CC-C0F4-81EC-D3B9-4A05736D7B3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863BBAD-552F-1DD1-8208-209B4A621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2E8CDD85-D5FF-E740-4BFB-A6E5E905E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66" y="783611"/>
            <a:ext cx="3787490" cy="3738575"/>
          </a:xfrm>
          <a:prstGeom prst="rect">
            <a:avLst/>
          </a:prstGeom>
        </p:spPr>
      </p:pic>
      <p:cxnSp>
        <p:nvCxnSpPr>
          <p:cNvPr id="13" name="Łącznik prosty ze strzałką 12">
            <a:extLst>
              <a:ext uri="{FF2B5EF4-FFF2-40B4-BE49-F238E27FC236}">
                <a16:creationId xmlns:a16="http://schemas.microsoft.com/office/drawing/2014/main" id="{E9088765-1F9D-6454-5597-41B1FCD8A247}"/>
              </a:ext>
            </a:extLst>
          </p:cNvPr>
          <p:cNvCxnSpPr>
            <a:cxnSpLocks/>
          </p:cNvCxnSpPr>
          <p:nvPr/>
        </p:nvCxnSpPr>
        <p:spPr>
          <a:xfrm>
            <a:off x="3835576" y="3579862"/>
            <a:ext cx="742860" cy="0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Obraz 8">
            <a:extLst>
              <a:ext uri="{FF2B5EF4-FFF2-40B4-BE49-F238E27FC236}">
                <a16:creationId xmlns:a16="http://schemas.microsoft.com/office/drawing/2014/main" id="{20D8476D-AAF4-DC5F-6A00-F4E5D9D17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436" y="1249119"/>
            <a:ext cx="4436343" cy="3273067"/>
          </a:xfrm>
          <a:prstGeom prst="rect">
            <a:avLst/>
          </a:prstGeom>
        </p:spPr>
      </p:pic>
      <p:pic>
        <p:nvPicPr>
          <p:cNvPr id="14" name="Obraz 13">
            <a:extLst>
              <a:ext uri="{FF2B5EF4-FFF2-40B4-BE49-F238E27FC236}">
                <a16:creationId xmlns:a16="http://schemas.microsoft.com/office/drawing/2014/main" id="{1CE1D1AA-604F-2FE9-22FB-92EA9B2429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120" y="483518"/>
            <a:ext cx="2592288" cy="88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6598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FE462FD-17B7-91DF-5DC3-7EE41264F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1B43BE0-00B4-5CCA-9C76-923355FF7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34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4F501B7-5B30-E315-08AF-503F32F98CD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CD22A30-6421-BD5F-D0B4-2DA94F708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A693EF26-95FA-C431-1ED2-4D7F040F7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696584"/>
            <a:ext cx="6494441" cy="4189697"/>
          </a:xfrm>
          <a:prstGeom prst="rect">
            <a:avLst/>
          </a:prstGeom>
        </p:spPr>
      </p:pic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943CA129-7ACB-F86C-4055-C054BD6D0E88}"/>
              </a:ext>
            </a:extLst>
          </p:cNvPr>
          <p:cNvCxnSpPr>
            <a:cxnSpLocks/>
          </p:cNvCxnSpPr>
          <p:nvPr/>
        </p:nvCxnSpPr>
        <p:spPr>
          <a:xfrm>
            <a:off x="4632370" y="3075806"/>
            <a:ext cx="1811838" cy="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69120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FE462FD-17B7-91DF-5DC3-7EE41264F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1B43BE0-00B4-5CCA-9C76-923355FF7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35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4F501B7-5B30-E315-08AF-503F32F98CD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CD22A30-6421-BD5F-D0B4-2DA94F708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01366690-5FD2-79CB-E0C4-CE1BD6F6C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750391"/>
            <a:ext cx="6074365" cy="3941382"/>
          </a:xfrm>
          <a:prstGeom prst="rect">
            <a:avLst/>
          </a:prstGeom>
        </p:spPr>
      </p:pic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B649F294-0354-4872-B438-310104159CCC}"/>
              </a:ext>
            </a:extLst>
          </p:cNvPr>
          <p:cNvCxnSpPr>
            <a:cxnSpLocks/>
          </p:cNvCxnSpPr>
          <p:nvPr/>
        </p:nvCxnSpPr>
        <p:spPr>
          <a:xfrm>
            <a:off x="4788024" y="3003798"/>
            <a:ext cx="1584176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34816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FE462FD-17B7-91DF-5DC3-7EE41264F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Widoczność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1B43BE0-00B4-5CCA-9C76-923355FF7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36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4F501B7-5B30-E315-08AF-503F32F98CD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CD22A30-6421-BD5F-D0B4-2DA94F708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49EC97DD-53C8-D1A8-D89A-FD259465A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175" y="486329"/>
            <a:ext cx="7022313" cy="4519397"/>
          </a:xfrm>
          <a:prstGeom prst="rect">
            <a:avLst/>
          </a:prstGeom>
        </p:spPr>
      </p:pic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AA4E8052-69E5-02F1-1015-0539145FADDA}"/>
              </a:ext>
            </a:extLst>
          </p:cNvPr>
          <p:cNvCxnSpPr>
            <a:cxnSpLocks/>
          </p:cNvCxnSpPr>
          <p:nvPr/>
        </p:nvCxnSpPr>
        <p:spPr>
          <a:xfrm>
            <a:off x="3814384" y="3003798"/>
            <a:ext cx="1872208" cy="504056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4F8E7354-F52B-DB4E-C400-4939557DAEF4}"/>
              </a:ext>
            </a:extLst>
          </p:cNvPr>
          <p:cNvCxnSpPr>
            <a:cxnSpLocks/>
          </p:cNvCxnSpPr>
          <p:nvPr/>
        </p:nvCxnSpPr>
        <p:spPr>
          <a:xfrm flipV="1">
            <a:off x="3814384" y="2103698"/>
            <a:ext cx="1872208" cy="90010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EF93EA91-B72C-BD3C-D36F-AF50562592DD}"/>
              </a:ext>
            </a:extLst>
          </p:cNvPr>
          <p:cNvSpPr txBox="1"/>
          <p:nvPr/>
        </p:nvSpPr>
        <p:spPr>
          <a:xfrm>
            <a:off x="323528" y="1131590"/>
            <a:ext cx="161864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>
                <a:solidFill>
                  <a:schemeClr val="tx2"/>
                </a:solidFill>
              </a:rPr>
              <a:t>Atrybut </a:t>
            </a:r>
            <a:r>
              <a:rPr lang="pl-PL" sz="1400" dirty="0" err="1">
                <a:solidFill>
                  <a:schemeClr val="tx2"/>
                </a:solidFill>
              </a:rPr>
              <a:t>Attribute</a:t>
            </a:r>
            <a:r>
              <a:rPr lang="pl-PL" sz="1400" dirty="0">
                <a:solidFill>
                  <a:schemeClr val="tx2"/>
                </a:solidFill>
              </a:rPr>
              <a:t> jest niewidoczny </a:t>
            </a:r>
            <a:br>
              <a:rPr lang="pl-PL" sz="1400" dirty="0">
                <a:solidFill>
                  <a:schemeClr val="tx2"/>
                </a:solidFill>
              </a:rPr>
            </a:br>
            <a:r>
              <a:rPr lang="pl-PL" sz="1400" dirty="0">
                <a:solidFill>
                  <a:schemeClr val="tx2"/>
                </a:solidFill>
              </a:rPr>
              <a:t>w klasie Class5 ze względu na to, że ona jest prywatna (-)  </a:t>
            </a:r>
          </a:p>
        </p:txBody>
      </p:sp>
    </p:spTree>
    <p:extLst>
      <p:ext uri="{BB962C8B-B14F-4D97-AF65-F5344CB8AC3E}">
        <p14:creationId xmlns:p14="http://schemas.microsoft.com/office/powerpoint/2010/main" val="14281324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az 8">
            <a:extLst>
              <a:ext uri="{FF2B5EF4-FFF2-40B4-BE49-F238E27FC236}">
                <a16:creationId xmlns:a16="http://schemas.microsoft.com/office/drawing/2014/main" id="{88523D2C-C38B-D03A-CC1B-33F65A322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421507"/>
            <a:ext cx="6733753" cy="4418495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1FE462FD-17B7-91DF-5DC3-7EE41264F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Widoczność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1B43BE0-00B4-5CCA-9C76-923355FF7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37</a:t>
            </a:fld>
            <a:endParaRPr lang="pl-PL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4F501B7-5B30-E315-08AF-503F32F98CD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pl-PL"/>
              <a:t>Lifelong learning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CD22A30-6421-BD5F-D0B4-2DA94F708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AA4E8052-69E5-02F1-1015-0539145FADDA}"/>
              </a:ext>
            </a:extLst>
          </p:cNvPr>
          <p:cNvCxnSpPr>
            <a:cxnSpLocks/>
          </p:cNvCxnSpPr>
          <p:nvPr/>
        </p:nvCxnSpPr>
        <p:spPr>
          <a:xfrm>
            <a:off x="3923928" y="2859782"/>
            <a:ext cx="2880320" cy="88863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4F8E7354-F52B-DB4E-C400-4939557DAEF4}"/>
              </a:ext>
            </a:extLst>
          </p:cNvPr>
          <p:cNvCxnSpPr>
            <a:cxnSpLocks/>
          </p:cNvCxnSpPr>
          <p:nvPr/>
        </p:nvCxnSpPr>
        <p:spPr>
          <a:xfrm>
            <a:off x="5940152" y="2139702"/>
            <a:ext cx="1008112" cy="72008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07066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4F303F2-A0DE-342D-8B3E-852529842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Dz</a:t>
            </a:r>
            <a:endParaRPr lang="pl-PL" dirty="0"/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47482C8D-0D67-5068-C98D-48B0FCD6A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l-PL"/>
              <a:t>strona </a:t>
            </a:r>
            <a:fld id="{D1E8C041-FAE8-4DC5-8211-C4895345858D}" type="slidenum">
              <a:rPr lang="pl-PL" smtClean="0"/>
              <a:pPr/>
              <a:t>38</a:t>
            </a:fld>
            <a:endParaRPr lang="pl-PL" dirty="0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9466EA3-09B7-5BF0-C5B7-8DFE6110311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328084" y="2032000"/>
            <a:ext cx="2412268" cy="899790"/>
          </a:xfrm>
        </p:spPr>
        <p:txBody>
          <a:bodyPr>
            <a:normAutofit/>
          </a:bodyPr>
          <a:lstStyle/>
          <a:p>
            <a:pPr algn="ctr"/>
            <a:r>
              <a:rPr lang="pl-PL" dirty="0"/>
              <a:t>Dziękuję. Życzę sukcesów!</a:t>
            </a:r>
          </a:p>
          <a:p>
            <a:pPr algn="ctr"/>
            <a:endParaRPr lang="pl-PL" dirty="0"/>
          </a:p>
          <a:p>
            <a:pPr algn="ctr"/>
            <a:r>
              <a:rPr lang="pl-PL" dirty="0"/>
              <a:t>zdzislaw.habasinski@altkom.pl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F2B24226-BABF-8CD9-D34C-2D0E03B17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l-PL"/>
              <a:t>Lifelong learning</a:t>
            </a:r>
            <a:endParaRPr lang="pl-PL" dirty="0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8B13BAD-DDE7-048F-ED2E-6C34D01F0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pl-PL"/>
              <a:t>www.altkomakademia.pl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79864418"/>
      </p:ext>
    </p:extLst>
  </p:cSld>
  <p:clrMapOvr>
    <a:masterClrMapping/>
  </p:clrMapOvr>
</p:sld>
</file>

<file path=ppt/theme/theme1.xml><?xml version="1.0" encoding="utf-8"?>
<a:theme xmlns:a="http://schemas.openxmlformats.org/drawingml/2006/main" name="jasne tło">
  <a:themeElements>
    <a:clrScheme name="altkom akademia">
      <a:dk1>
        <a:srgbClr val="001EFF"/>
      </a:dk1>
      <a:lt1>
        <a:srgbClr val="FFFFFF"/>
      </a:lt1>
      <a:dk2>
        <a:srgbClr val="00003C"/>
      </a:dk2>
      <a:lt2>
        <a:srgbClr val="FFFFFF"/>
      </a:lt2>
      <a:accent1>
        <a:srgbClr val="00003C"/>
      </a:accent1>
      <a:accent2>
        <a:srgbClr val="001EFF"/>
      </a:accent2>
      <a:accent3>
        <a:srgbClr val="00003C"/>
      </a:accent3>
      <a:accent4>
        <a:srgbClr val="001EFF"/>
      </a:accent4>
      <a:accent5>
        <a:srgbClr val="00003C"/>
      </a:accent5>
      <a:accent6>
        <a:srgbClr val="001EFF"/>
      </a:accent6>
      <a:hlink>
        <a:srgbClr val="D8D8D8"/>
      </a:hlink>
      <a:folHlink>
        <a:srgbClr val="001EFF"/>
      </a:folHlink>
    </a:clrScheme>
    <a:fontScheme name="Altkom Akademia">
      <a:majorFont>
        <a:latin typeface="Lexend SemiBold"/>
        <a:ea typeface=""/>
        <a:cs typeface=""/>
      </a:majorFont>
      <a:minorFont>
        <a:latin typeface="Lexend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iebieskie tło">
  <a:themeElements>
    <a:clrScheme name="altkom akademia">
      <a:dk1>
        <a:srgbClr val="001EFF"/>
      </a:dk1>
      <a:lt1>
        <a:srgbClr val="FFFFFF"/>
      </a:lt1>
      <a:dk2>
        <a:srgbClr val="00003C"/>
      </a:dk2>
      <a:lt2>
        <a:srgbClr val="FFFFFF"/>
      </a:lt2>
      <a:accent1>
        <a:srgbClr val="00003C"/>
      </a:accent1>
      <a:accent2>
        <a:srgbClr val="001EFF"/>
      </a:accent2>
      <a:accent3>
        <a:srgbClr val="00003C"/>
      </a:accent3>
      <a:accent4>
        <a:srgbClr val="001EFF"/>
      </a:accent4>
      <a:accent5>
        <a:srgbClr val="00003C"/>
      </a:accent5>
      <a:accent6>
        <a:srgbClr val="001EFF"/>
      </a:accent6>
      <a:hlink>
        <a:srgbClr val="D8D8D8"/>
      </a:hlink>
      <a:folHlink>
        <a:srgbClr val="001EFF"/>
      </a:folHlink>
    </a:clrScheme>
    <a:fontScheme name="Altkom Akademia">
      <a:majorFont>
        <a:latin typeface="Lexend SemiBold"/>
        <a:ea typeface=""/>
        <a:cs typeface=""/>
      </a:majorFont>
      <a:minorFont>
        <a:latin typeface="Lexend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granatowe tło">
  <a:themeElements>
    <a:clrScheme name="altkom akademia">
      <a:dk1>
        <a:srgbClr val="001EFF"/>
      </a:dk1>
      <a:lt1>
        <a:srgbClr val="FFFFFF"/>
      </a:lt1>
      <a:dk2>
        <a:srgbClr val="00003C"/>
      </a:dk2>
      <a:lt2>
        <a:srgbClr val="FFFFFF"/>
      </a:lt2>
      <a:accent1>
        <a:srgbClr val="00003C"/>
      </a:accent1>
      <a:accent2>
        <a:srgbClr val="001EFF"/>
      </a:accent2>
      <a:accent3>
        <a:srgbClr val="00003C"/>
      </a:accent3>
      <a:accent4>
        <a:srgbClr val="001EFF"/>
      </a:accent4>
      <a:accent5>
        <a:srgbClr val="00003C"/>
      </a:accent5>
      <a:accent6>
        <a:srgbClr val="001EFF"/>
      </a:accent6>
      <a:hlink>
        <a:srgbClr val="D8D8D8"/>
      </a:hlink>
      <a:folHlink>
        <a:srgbClr val="001EFF"/>
      </a:folHlink>
    </a:clrScheme>
    <a:fontScheme name="Altkom Akademia">
      <a:majorFont>
        <a:latin typeface="Lexend SemiBold"/>
        <a:ea typeface=""/>
        <a:cs typeface=""/>
      </a:majorFont>
      <a:minorFont>
        <a:latin typeface="Lexend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jasne tło</Template>
  <TotalTime>5977</TotalTime>
  <Words>1612</Words>
  <Application>Microsoft Office PowerPoint</Application>
  <PresentationFormat>Pokaz na ekranie (16:9)</PresentationFormat>
  <Paragraphs>338</Paragraphs>
  <Slides>38</Slides>
  <Notes>8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3</vt:i4>
      </vt:variant>
      <vt:variant>
        <vt:lpstr>Tytuły slajdów</vt:lpstr>
      </vt:variant>
      <vt:variant>
        <vt:i4>38</vt:i4>
      </vt:variant>
    </vt:vector>
  </HeadingPairs>
  <TitlesOfParts>
    <vt:vector size="47" baseType="lpstr">
      <vt:lpstr>Arial</vt:lpstr>
      <vt:lpstr>Calibri</vt:lpstr>
      <vt:lpstr>Courier New</vt:lpstr>
      <vt:lpstr>Lexend</vt:lpstr>
      <vt:lpstr>Lexend SemiBold</vt:lpstr>
      <vt:lpstr>Wingdings</vt:lpstr>
      <vt:lpstr>jasne tło</vt:lpstr>
      <vt:lpstr>niebieskie tło</vt:lpstr>
      <vt:lpstr>granatowe tło</vt:lpstr>
      <vt:lpstr>Podstawy języka UML</vt:lpstr>
      <vt:lpstr>Plan szkolenia</vt:lpstr>
      <vt:lpstr>Czym jest UML?</vt:lpstr>
      <vt:lpstr>Podstawowe informacje o UML</vt:lpstr>
      <vt:lpstr>Diagramy UML</vt:lpstr>
      <vt:lpstr>Elementy języka obiektowego</vt:lpstr>
      <vt:lpstr>Relacje</vt:lpstr>
      <vt:lpstr>Rodzaje diagramów w języku UML</vt:lpstr>
      <vt:lpstr>Klasy </vt:lpstr>
      <vt:lpstr>Notacja klasy i jej obiektu</vt:lpstr>
      <vt:lpstr>Przykłady klas</vt:lpstr>
      <vt:lpstr>Asocjacja – relacja pomiędzy instancjami</vt:lpstr>
      <vt:lpstr>Jakie tu powinny być krotności?</vt:lpstr>
      <vt:lpstr>Kompozycja i agregacja – warianty asocjacji</vt:lpstr>
      <vt:lpstr>Asocjacja zwrotna</vt:lpstr>
      <vt:lpstr>Podział na podklasy za pomocą relacji generalizacji</vt:lpstr>
      <vt:lpstr>Podział na podklasy za pomocą relacji generalizacji (dziedziczenia)</vt:lpstr>
      <vt:lpstr>Atrybuty statyczne i /obliczalne</vt:lpstr>
      <vt:lpstr>Klasy abstrakcyjne</vt:lpstr>
      <vt:lpstr>Logiczny model danych</vt:lpstr>
      <vt:lpstr>Relacja zależności</vt:lpstr>
      <vt:lpstr>Typ danych (Data type)</vt:lpstr>
      <vt:lpstr>Typy proste (Primitive Data Type)</vt:lpstr>
      <vt:lpstr>Obiekty i klasy</vt:lpstr>
      <vt:lpstr>Zasady identyfikacji klas</vt:lpstr>
      <vt:lpstr>Pakiet (Package)</vt:lpstr>
      <vt:lpstr>Pakiety wyrażające model główny i podmodele – wg etapów projektu</vt:lpstr>
      <vt:lpstr>Pakiety wyrażające model główny i podmodele – wg warstw architektury</vt:lpstr>
      <vt:lpstr>Diagram sekwencji</vt:lpstr>
      <vt:lpstr>Diagram przeglądu interakcji</vt:lpstr>
      <vt:lpstr>Diagram sekwencji: client puts order</vt:lpstr>
      <vt:lpstr>Diagram sekwencji: PM analyses order</vt:lpstr>
      <vt:lpstr>Diagram sekwencji: PM analyses order</vt:lpstr>
      <vt:lpstr>Prezentacja programu PowerPoint</vt:lpstr>
      <vt:lpstr>Prezentacja programu PowerPoint</vt:lpstr>
      <vt:lpstr>Widoczność</vt:lpstr>
      <vt:lpstr>Widoczność</vt:lpstr>
      <vt:lpstr>Dz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Jak przygotować prezentację z szablonem Altkom Akademia</dc:title>
  <dc:creator>Jacek Smolarz</dc:creator>
  <cp:lastModifiedBy>Zdzisław Habasiński</cp:lastModifiedBy>
  <cp:revision>275</cp:revision>
  <dcterms:created xsi:type="dcterms:W3CDTF">2022-08-18T13:49:34Z</dcterms:created>
  <dcterms:modified xsi:type="dcterms:W3CDTF">2022-11-22T20:08:47Z</dcterms:modified>
</cp:coreProperties>
</file>